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7562850" cy="10688638"/>
  <p:notesSz cx="10688638" cy="7562850"/>
  <p:embeddedFontLst>
    <p:embeddedFont>
      <p:font typeface="Calibri" panose="020F0502020204030204" pitchFamily="34" charset="0"/>
      <p:regular r:id="rId11"/>
      <p:bold r:id="rId12"/>
      <p:italic r:id="rId13"/>
      <p:boldItalic r:id="rId14"/>
    </p:embeddedFont>
    <p:embeddedFont>
      <p:font typeface="IBM Plex Sans" panose="020B0503050203000203" pitchFamily="34" charset="0"/>
      <p:regular r:id="rId15"/>
    </p:embeddedFont>
    <p:embeddedFont>
      <p:font typeface="IBM Plex Sans Bold" panose="020B0503050203000203" pitchFamily="34" charset="0"/>
      <p:regular r:id="rId16"/>
      <p:bold r:id="rId17"/>
    </p:embeddedFont>
    <p:embeddedFont>
      <p:font typeface="IBM Plex Sans Condensed" panose="020B0506050203000203" pitchFamily="34" charset="77"/>
      <p:regular r:id="rId18"/>
    </p:embeddedFont>
    <p:embeddedFont>
      <p:font typeface="IBM Plex Sans Condensed Bold" panose="020B0806050203000203" pitchFamily="34" charset="77"/>
      <p:regular r:id="rId19"/>
      <p:bold r:id="rId20"/>
    </p:embeddedFont>
    <p:embeddedFont>
      <p:font typeface="IBM Plex Sans SemiBold" panose="020B0503050203000203" pitchFamily="34"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64"/>
    <p:restoredTop sz="95921"/>
  </p:normalViewPr>
  <p:slideViewPr>
    <p:cSldViewPr snapToGrid="0" snapToObjects="1">
      <p:cViewPr varScale="1">
        <p:scale>
          <a:sx n="73" d="100"/>
          <a:sy n="73" d="100"/>
        </p:scale>
        <p:origin x="3024" y="21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presProps" Target="presProp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8697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7562088" cy="10689336"/>
          </a:xfrm>
          <a:prstGeom prst="rect">
            <a:avLst/>
          </a:prstGeom>
          <a:solidFill>
            <a:srgbClr val="F3F1EC"/>
          </a:solidFill>
          <a:ln/>
        </p:spPr>
      </p:sp>
      <p:sp>
        <p:nvSpPr>
          <p:cNvPr id="3" name="Shape 1"/>
          <p:cNvSpPr/>
          <p:nvPr/>
        </p:nvSpPr>
        <p:spPr>
          <a:xfrm>
            <a:off x="0" y="0"/>
            <a:ext cx="7562026" cy="10689336"/>
          </a:xfrm>
          <a:prstGeom prst="rect">
            <a:avLst/>
          </a:prstGeom>
          <a:solidFill>
            <a:srgbClr val="FFFEF8"/>
          </a:solidFill>
          <a:ln/>
        </p:spPr>
      </p:sp>
      <p:pic>
        <p:nvPicPr>
          <p:cNvPr id="4" name="Image 0" descr="preencoded.png">
            <a:hlinkClick r:id="rId2"/>
          </p:cNvPr>
          <p:cNvPicPr>
            <a:picLocks noChangeAspect="1"/>
          </p:cNvPicPr>
          <p:nvPr/>
        </p:nvPicPr>
        <p:blipFill>
          <a:blip r:embed="rId3"/>
          <a:stretch>
            <a:fillRect/>
          </a:stretch>
        </p:blipFill>
        <p:spPr>
          <a:xfrm>
            <a:off x="6447268" y="10390327"/>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517742" y="736578"/>
            <a:ext cx="2526604" cy="984894"/>
          </a:xfrm>
          <a:prstGeom prst="rect">
            <a:avLst/>
          </a:prstGeom>
          <a:noFill/>
          <a:ln/>
        </p:spPr>
        <p:txBody>
          <a:bodyPr wrap="square" lIns="0" tIns="0" rIns="0" bIns="0" rtlCol="0" anchor="t"/>
          <a:lstStyle/>
          <a:p>
            <a:pPr marL="0" indent="0" algn="ctr">
              <a:lnSpc>
                <a:spcPct val="108000"/>
              </a:lnSpc>
              <a:spcAft>
                <a:spcPts val="1350"/>
              </a:spcAft>
              <a:buNone/>
            </a:pPr>
            <a:endParaRPr lang="en-US" sz="950" dirty="0"/>
          </a:p>
          <a:p>
            <a:pPr marL="0" indent="0" algn="ctr">
              <a:lnSpc>
                <a:spcPct val="108000"/>
              </a:lnSpc>
              <a:spcAft>
                <a:spcPts val="2600"/>
              </a:spcAft>
              <a:buNone/>
            </a:pPr>
            <a:endParaRPr lang="en-US" sz="950" dirty="0"/>
          </a:p>
          <a:p>
            <a:pPr marL="0" indent="0" algn="ctr">
              <a:lnSpc>
                <a:spcPct val="108000"/>
              </a:lnSpc>
              <a:buNone/>
            </a:pPr>
            <a:r>
              <a:rPr lang="en-US" sz="950" kern="0" spc="95" dirty="0">
                <a:solidFill>
                  <a:srgbClr val="006B78"/>
                </a:solidFill>
                <a:latin typeface="IBM Plex Sans SemiBold" pitchFamily="34" charset="0"/>
                <a:ea typeface="IBM Plex Sans SemiBold" pitchFamily="34" charset="-122"/>
                <a:cs typeface="IBM Plex Sans SemiBold" pitchFamily="34" charset="-120"/>
              </a:rPr>
              <a:t>TECHNICAL AUDIT · 2023 EMISSIONS</a:t>
            </a:r>
            <a:endParaRPr lang="en-US" sz="950" dirty="0"/>
          </a:p>
        </p:txBody>
      </p:sp>
      <p:sp>
        <p:nvSpPr>
          <p:cNvPr id="3" name="Text 1"/>
          <p:cNvSpPr/>
          <p:nvPr/>
        </p:nvSpPr>
        <p:spPr>
          <a:xfrm>
            <a:off x="736577" y="1941384"/>
            <a:ext cx="6088933" cy="838181"/>
          </a:xfrm>
          <a:prstGeom prst="rect">
            <a:avLst/>
          </a:prstGeom>
          <a:noFill/>
          <a:ln/>
        </p:spPr>
        <p:txBody>
          <a:bodyPr wrap="square" lIns="0" tIns="0" rIns="0" bIns="0" rtlCol="0" anchor="t">
            <a:normAutofit lnSpcReduction="10000"/>
          </a:bodyPr>
          <a:lstStyle/>
          <a:p>
            <a:pPr marL="0" indent="0" algn="l">
              <a:lnSpc>
                <a:spcPct val="92000"/>
              </a:lnSpc>
              <a:buNone/>
            </a:pPr>
            <a:r>
              <a:rPr lang="en-US" sz="3000" b="1" dirty="0">
                <a:solidFill>
                  <a:srgbClr val="20262B"/>
                </a:solidFill>
                <a:latin typeface="IBM Plex Sans Condensed Bold" pitchFamily="34" charset="0"/>
                <a:ea typeface="IBM Plex Sans Condensed Bold" pitchFamily="34" charset="-122"/>
                <a:cs typeface="IBM Plex Sans Condensed Bold" pitchFamily="34" charset="-120"/>
              </a:rPr>
              <a:t>United States Emissions Analysis &amp; Findings Report</a:t>
            </a:r>
            <a:endParaRPr lang="en-US" sz="3000" dirty="0"/>
          </a:p>
        </p:txBody>
      </p:sp>
      <p:sp>
        <p:nvSpPr>
          <p:cNvPr id="4" name="Text 2"/>
          <p:cNvSpPr/>
          <p:nvPr/>
        </p:nvSpPr>
        <p:spPr>
          <a:xfrm>
            <a:off x="748947" y="2816770"/>
            <a:ext cx="6064132" cy="222223"/>
          </a:xfrm>
          <a:prstGeom prst="rect">
            <a:avLst/>
          </a:prstGeom>
          <a:noFill/>
          <a:ln/>
        </p:spPr>
        <p:txBody>
          <a:bodyPr wrap="none" lIns="0" tIns="0" rIns="0" bIns="0" rtlCol="0" anchor="t"/>
          <a:lstStyle/>
          <a:p>
            <a:pPr marL="0" indent="0" algn="ctr">
              <a:lnSpc>
                <a:spcPct val="104000"/>
              </a:lnSpc>
              <a:buNone/>
            </a:pPr>
            <a:r>
              <a:rPr lang="en-US" sz="1400" b="1" dirty="0">
                <a:solidFill>
                  <a:srgbClr val="2B3237"/>
                </a:solidFill>
                <a:latin typeface="IBM Plex Sans Bold" pitchFamily="34" charset="0"/>
                <a:ea typeface="IBM Plex Sans Bold" pitchFamily="34" charset="-122"/>
                <a:cs typeface="IBM Plex Sans Bold" pitchFamily="34" charset="-120"/>
              </a:rPr>
              <a:t>A focused review of source data, SQL logic, and dashboard visualizations</a:t>
            </a:r>
            <a:endParaRPr lang="en-US" sz="1400" dirty="0"/>
          </a:p>
        </p:txBody>
      </p:sp>
      <p:pic>
        <p:nvPicPr>
          <p:cNvPr id="5" name="Image 0" descr="preencoded.png"/>
          <p:cNvPicPr>
            <a:picLocks noChangeAspect="1"/>
          </p:cNvPicPr>
          <p:nvPr/>
        </p:nvPicPr>
        <p:blipFill>
          <a:blip r:embed="rId3"/>
          <a:stretch>
            <a:fillRect/>
          </a:stretch>
        </p:blipFill>
        <p:spPr>
          <a:xfrm>
            <a:off x="1790333" y="3076198"/>
            <a:ext cx="3804891" cy="2052673"/>
          </a:xfrm>
          <a:prstGeom prst="rect">
            <a:avLst/>
          </a:prstGeom>
        </p:spPr>
      </p:pic>
      <p:sp>
        <p:nvSpPr>
          <p:cNvPr id="6" name="Shape 3"/>
          <p:cNvSpPr/>
          <p:nvPr/>
        </p:nvSpPr>
        <p:spPr>
          <a:xfrm>
            <a:off x="736577" y="5185155"/>
            <a:ext cx="2892092" cy="1134560"/>
          </a:xfrm>
          <a:prstGeom prst="rect">
            <a:avLst/>
          </a:prstGeom>
          <a:solidFill>
            <a:srgbClr val="E7EAEB"/>
          </a:solidFill>
          <a:ln/>
        </p:spPr>
      </p:sp>
      <p:sp>
        <p:nvSpPr>
          <p:cNvPr id="7" name="Text 4"/>
          <p:cNvSpPr/>
          <p:nvPr/>
        </p:nvSpPr>
        <p:spPr>
          <a:xfrm>
            <a:off x="965139" y="5388300"/>
            <a:ext cx="2663531" cy="156867"/>
          </a:xfrm>
          <a:prstGeom prst="rect">
            <a:avLst/>
          </a:prstGeom>
          <a:noFill/>
          <a:ln/>
        </p:spPr>
        <p:txBody>
          <a:bodyPr wrap="none" lIns="0" tIns="0" rIns="0" bIns="0" rtlCol="0" anchor="t"/>
          <a:lstStyle/>
          <a:p>
            <a:pPr marL="0" indent="0" algn="l">
              <a:lnSpc>
                <a:spcPct val="108000"/>
              </a:lnSpc>
              <a:buNone/>
            </a:pPr>
            <a:r>
              <a:rPr lang="en-US" sz="950" kern="0" spc="95" dirty="0">
                <a:solidFill>
                  <a:srgbClr val="2B3237"/>
                </a:solidFill>
                <a:latin typeface="IBM Plex Sans SemiBold" pitchFamily="34" charset="0"/>
                <a:ea typeface="IBM Plex Sans SemiBold" pitchFamily="34" charset="-122"/>
                <a:cs typeface="IBM Plex Sans SemiBold" pitchFamily="34" charset="-120"/>
              </a:rPr>
              <a:t>AUDIENCE</a:t>
            </a:r>
            <a:endParaRPr lang="en-US" sz="950" dirty="0"/>
          </a:p>
        </p:txBody>
      </p:sp>
      <p:sp>
        <p:nvSpPr>
          <p:cNvPr id="8" name="Text 5"/>
          <p:cNvSpPr/>
          <p:nvPr/>
        </p:nvSpPr>
        <p:spPr>
          <a:xfrm>
            <a:off x="965139" y="5659448"/>
            <a:ext cx="2663531" cy="228561"/>
          </a:xfrm>
          <a:prstGeom prst="rect">
            <a:avLst/>
          </a:prstGeom>
          <a:noFill/>
          <a:ln/>
        </p:spPr>
        <p:txBody>
          <a:bodyPr wrap="none" lIns="0" tIns="0" rIns="0" bIns="0" rtlCol="0" anchor="t"/>
          <a:lstStyle/>
          <a:p>
            <a:pPr marL="0" indent="0" algn="l">
              <a:lnSpc>
                <a:spcPct val="125000"/>
              </a:lnSpc>
              <a:buNone/>
            </a:pPr>
            <a:r>
              <a:rPr lang="en-US" sz="1200" dirty="0">
                <a:solidFill>
                  <a:srgbClr val="2B3237"/>
                </a:solidFill>
                <a:latin typeface="IBM Plex Sans" pitchFamily="34" charset="0"/>
                <a:ea typeface="IBM Plex Sans" pitchFamily="34" charset="-122"/>
                <a:cs typeface="IBM Plex Sans" pitchFamily="34" charset="-120"/>
              </a:rPr>
              <a:t>Data and analytics team</a:t>
            </a:r>
            <a:endParaRPr lang="en-US" sz="1200" dirty="0"/>
          </a:p>
        </p:txBody>
      </p:sp>
      <p:sp>
        <p:nvSpPr>
          <p:cNvPr id="9" name="Shape 6"/>
          <p:cNvSpPr/>
          <p:nvPr/>
        </p:nvSpPr>
        <p:spPr>
          <a:xfrm>
            <a:off x="3933418" y="5185155"/>
            <a:ext cx="2892092" cy="1134560"/>
          </a:xfrm>
          <a:prstGeom prst="rect">
            <a:avLst/>
          </a:prstGeom>
          <a:solidFill>
            <a:srgbClr val="E7EAEB"/>
          </a:solidFill>
          <a:ln/>
        </p:spPr>
      </p:sp>
      <p:sp>
        <p:nvSpPr>
          <p:cNvPr id="10" name="Text 7"/>
          <p:cNvSpPr/>
          <p:nvPr/>
        </p:nvSpPr>
        <p:spPr>
          <a:xfrm>
            <a:off x="4161979" y="5388300"/>
            <a:ext cx="2663531" cy="156867"/>
          </a:xfrm>
          <a:prstGeom prst="rect">
            <a:avLst/>
          </a:prstGeom>
          <a:noFill/>
          <a:ln/>
        </p:spPr>
        <p:txBody>
          <a:bodyPr wrap="none" lIns="0" tIns="0" rIns="0" bIns="0" rtlCol="0" anchor="t"/>
          <a:lstStyle/>
          <a:p>
            <a:pPr marL="0" indent="0" algn="l">
              <a:lnSpc>
                <a:spcPct val="108000"/>
              </a:lnSpc>
              <a:buNone/>
            </a:pPr>
            <a:r>
              <a:rPr lang="en-US" sz="950" kern="0" spc="95" dirty="0">
                <a:solidFill>
                  <a:srgbClr val="2B3237"/>
                </a:solidFill>
                <a:latin typeface="IBM Plex Sans SemiBold" pitchFamily="34" charset="0"/>
                <a:ea typeface="IBM Plex Sans SemiBold" pitchFamily="34" charset="-122"/>
                <a:cs typeface="IBM Plex Sans SemiBold" pitchFamily="34" charset="-120"/>
              </a:rPr>
              <a:t>EVIDENCE BASE</a:t>
            </a:r>
            <a:endParaRPr lang="en-US" sz="950" dirty="0"/>
          </a:p>
        </p:txBody>
      </p:sp>
      <p:sp>
        <p:nvSpPr>
          <p:cNvPr id="11" name="Text 8"/>
          <p:cNvSpPr/>
          <p:nvPr/>
        </p:nvSpPr>
        <p:spPr>
          <a:xfrm>
            <a:off x="4161979" y="5659448"/>
            <a:ext cx="2434970" cy="457123"/>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B3237"/>
                </a:solidFill>
                <a:latin typeface="IBM Plex Sans" pitchFamily="34" charset="0"/>
                <a:ea typeface="IBM Plex Sans" pitchFamily="34" charset="-122"/>
                <a:cs typeface="IBM Plex Sans" pitchFamily="34" charset="-120"/>
              </a:rPr>
              <a:t>CSV · dashboard definition · SQL · screenshots · chart exports</a:t>
            </a:r>
            <a:endParaRPr lang="en-US" sz="1200" dirty="0"/>
          </a:p>
        </p:txBody>
      </p:sp>
      <p:sp>
        <p:nvSpPr>
          <p:cNvPr id="12" name="Text 9"/>
          <p:cNvSpPr/>
          <p:nvPr/>
        </p:nvSpPr>
        <p:spPr>
          <a:xfrm>
            <a:off x="2791289" y="9795891"/>
            <a:ext cx="1979509" cy="156867"/>
          </a:xfrm>
          <a:prstGeom prst="rect">
            <a:avLst/>
          </a:prstGeom>
          <a:noFill/>
          <a:ln/>
        </p:spPr>
        <p:txBody>
          <a:bodyPr wrap="none" lIns="0" tIns="0" rIns="0" bIns="0" rtlCol="0" anchor="t"/>
          <a:lstStyle/>
          <a:p>
            <a:pPr marL="0" indent="0" algn="ctr">
              <a:lnSpc>
                <a:spcPct val="108000"/>
              </a:lnSpc>
              <a:buNone/>
            </a:pPr>
            <a:r>
              <a:rPr lang="en-US" sz="950" kern="0" spc="95" dirty="0">
                <a:solidFill>
                  <a:srgbClr val="006B78"/>
                </a:solidFill>
                <a:latin typeface="IBM Plex Sans SemiBold" pitchFamily="34" charset="0"/>
                <a:ea typeface="IBM Plex Sans SemiBold" pitchFamily="34" charset="-122"/>
                <a:cs typeface="IBM Plex Sans SemiBold" pitchFamily="34" charset="-120"/>
              </a:rPr>
              <a:t>PREPARED FOR REVIEW</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6577" y="736578"/>
            <a:ext cx="6467038" cy="156867"/>
          </a:xfrm>
          <a:prstGeom prst="rect">
            <a:avLst/>
          </a:prstGeom>
          <a:noFill/>
          <a:ln/>
        </p:spPr>
        <p:txBody>
          <a:bodyPr wrap="none" lIns="0" tIns="0" rIns="0" bIns="0" rtlCol="0" anchor="t"/>
          <a:lstStyle/>
          <a:p>
            <a:pPr marL="0" indent="0" algn="l">
              <a:lnSpc>
                <a:spcPct val="108000"/>
              </a:lnSpc>
              <a:buNone/>
            </a:pPr>
            <a:r>
              <a:rPr lang="en-US" sz="950" kern="0" spc="95" dirty="0">
                <a:solidFill>
                  <a:srgbClr val="20262B"/>
                </a:solidFill>
                <a:latin typeface="IBM Plex Sans SemiBold" pitchFamily="34" charset="0"/>
                <a:ea typeface="IBM Plex Sans SemiBold" pitchFamily="34" charset="-122"/>
                <a:cs typeface="IBM Plex Sans SemiBold" pitchFamily="34" charset="-120"/>
              </a:rPr>
              <a:t>01 · EXECUTIVE READ</a:t>
            </a:r>
            <a:endParaRPr lang="en-US" sz="950" dirty="0"/>
          </a:p>
        </p:txBody>
      </p:sp>
      <p:sp>
        <p:nvSpPr>
          <p:cNvPr id="3" name="Text 1"/>
          <p:cNvSpPr/>
          <p:nvPr/>
        </p:nvSpPr>
        <p:spPr>
          <a:xfrm>
            <a:off x="736577" y="972770"/>
            <a:ext cx="6088933" cy="1257272"/>
          </a:xfrm>
          <a:prstGeom prst="rect">
            <a:avLst/>
          </a:prstGeom>
          <a:noFill/>
          <a:ln/>
        </p:spPr>
        <p:txBody>
          <a:bodyPr wrap="square" lIns="0" tIns="0" rIns="0" bIns="0" rtlCol="0" anchor="t">
            <a:normAutofit lnSpcReduction="10000"/>
          </a:bodyPr>
          <a:lstStyle/>
          <a:p>
            <a:pPr marL="0" indent="0" algn="l">
              <a:lnSpc>
                <a:spcPct val="92000"/>
              </a:lnSpc>
              <a:buNone/>
            </a:pPr>
            <a:r>
              <a:rPr lang="en-US" sz="3000" dirty="0">
                <a:solidFill>
                  <a:srgbClr val="20262B"/>
                </a:solidFill>
                <a:latin typeface="IBM Plex Sans Condensed" pitchFamily="34" charset="0"/>
                <a:ea typeface="IBM Plex Sans Condensed" pitchFamily="34" charset="-122"/>
                <a:cs typeface="IBM Plex Sans Condensed" pitchFamily="34" charset="-120"/>
              </a:rPr>
              <a:t>The dashboard has a credible first story, but its strongest claims need tighter definitions</a:t>
            </a:r>
            <a:endParaRPr lang="en-US" sz="3000" dirty="0"/>
          </a:p>
        </p:txBody>
      </p:sp>
      <p:sp>
        <p:nvSpPr>
          <p:cNvPr id="4" name="Text 2"/>
          <p:cNvSpPr/>
          <p:nvPr/>
        </p:nvSpPr>
        <p:spPr>
          <a:xfrm>
            <a:off x="736577" y="2426849"/>
            <a:ext cx="6088933" cy="1285888"/>
          </a:xfrm>
          <a:prstGeom prst="rect">
            <a:avLst/>
          </a:prstGeom>
          <a:noFill/>
          <a:ln/>
        </p:spPr>
        <p:txBody>
          <a:bodyPr wrap="square" lIns="0" tIns="0" rIns="0" bIns="0" rtlCol="0" anchor="t">
            <a:normAutofit/>
          </a:bodyPr>
          <a:lstStyle/>
          <a:p>
            <a:pPr marL="0" indent="0" algn="l">
              <a:lnSpc>
                <a:spcPct val="125000"/>
              </a:lnSpc>
              <a:buNone/>
            </a:pPr>
            <a:r>
              <a:rPr lang="en-US" sz="1350" dirty="0">
                <a:solidFill>
                  <a:srgbClr val="2B3237"/>
                </a:solidFill>
                <a:latin typeface="IBM Plex Sans" pitchFamily="34" charset="0"/>
                <a:ea typeface="IBM Plex Sans" pitchFamily="34" charset="-122"/>
                <a:cs typeface="IBM Plex Sans" pitchFamily="34" charset="-120"/>
              </a:rPr>
              <a:t>The supplied data supports a useful exploratory narrative: emissions are concentrated geographically, county hotspots are visible, and per-person values vary widely. The risk is not that the underlying estimates are necessarily wrong. It is that labels, denominators, and encodings sometimes ask the reader to infer more than the SQL establishes.</a:t>
            </a:r>
            <a:endParaRPr lang="en-US" sz="1350" dirty="0"/>
          </a:p>
        </p:txBody>
      </p:sp>
      <p:pic>
        <p:nvPicPr>
          <p:cNvPr id="5" name="Image 0" descr="preencoded.png"/>
          <p:cNvPicPr>
            <a:picLocks noChangeAspect="1"/>
          </p:cNvPicPr>
          <p:nvPr/>
        </p:nvPicPr>
        <p:blipFill>
          <a:blip r:embed="rId3"/>
          <a:stretch>
            <a:fillRect/>
          </a:stretch>
        </p:blipFill>
        <p:spPr>
          <a:xfrm>
            <a:off x="736577" y="4119089"/>
            <a:ext cx="2815905" cy="2247582"/>
          </a:xfrm>
          <a:prstGeom prst="rect">
            <a:avLst/>
          </a:prstGeom>
        </p:spPr>
      </p:pic>
      <p:sp>
        <p:nvSpPr>
          <p:cNvPr id="6" name="Text 3"/>
          <p:cNvSpPr/>
          <p:nvPr/>
        </p:nvSpPr>
        <p:spPr>
          <a:xfrm>
            <a:off x="736577" y="6445997"/>
            <a:ext cx="2815905" cy="559957"/>
          </a:xfrm>
          <a:prstGeom prst="rect">
            <a:avLst/>
          </a:prstGeom>
          <a:noFill/>
          <a:ln/>
        </p:spPr>
        <p:txBody>
          <a:bodyPr wrap="square" lIns="0" tIns="0" rIns="0" bIns="0" rtlCol="0" anchor="t">
            <a:normAutofit/>
          </a:bodyPr>
          <a:lstStyle/>
          <a:p>
            <a:pPr marL="0" indent="0" algn="l">
              <a:lnSpc>
                <a:spcPct val="117000"/>
              </a:lnSpc>
              <a:buNone/>
            </a:pPr>
            <a:r>
              <a:rPr lang="en-US" sz="1050" dirty="0">
                <a:solidFill>
                  <a:srgbClr val="66737A"/>
                </a:solidFill>
                <a:latin typeface="IBM Plex Sans" pitchFamily="34" charset="0"/>
                <a:ea typeface="IBM Plex Sans" pitchFamily="34" charset="-122"/>
                <a:cs typeface="IBM Plex Sans" pitchFamily="34" charset="-120"/>
              </a:rPr>
              <a:t>Top 10 state contributors · supplied 2023 emissions data. Together they account for 50.87% of modeled emissions.</a:t>
            </a:r>
            <a:endParaRPr lang="en-US" sz="1050" dirty="0"/>
          </a:p>
        </p:txBody>
      </p:sp>
      <p:sp>
        <p:nvSpPr>
          <p:cNvPr id="7" name="Shape 4"/>
          <p:cNvSpPr/>
          <p:nvPr/>
        </p:nvSpPr>
        <p:spPr>
          <a:xfrm>
            <a:off x="4009605" y="3890528"/>
            <a:ext cx="2815905" cy="4359836"/>
          </a:xfrm>
          <a:prstGeom prst="rect">
            <a:avLst/>
          </a:prstGeom>
          <a:solidFill>
            <a:srgbClr val="E7EAEB"/>
          </a:solidFill>
          <a:ln/>
        </p:spPr>
      </p:sp>
      <p:sp>
        <p:nvSpPr>
          <p:cNvPr id="8" name="Text 5"/>
          <p:cNvSpPr/>
          <p:nvPr/>
        </p:nvSpPr>
        <p:spPr>
          <a:xfrm>
            <a:off x="4288999" y="4144505"/>
            <a:ext cx="2536512" cy="156867"/>
          </a:xfrm>
          <a:prstGeom prst="rect">
            <a:avLst/>
          </a:prstGeom>
          <a:noFill/>
          <a:ln/>
        </p:spPr>
        <p:txBody>
          <a:bodyPr wrap="none" lIns="0" tIns="0" rIns="0" bIns="0" rtlCol="0" anchor="t"/>
          <a:lstStyle/>
          <a:p>
            <a:pPr marL="0" indent="0" algn="l">
              <a:lnSpc>
                <a:spcPct val="108000"/>
              </a:lnSpc>
              <a:buNone/>
            </a:pPr>
            <a:r>
              <a:rPr lang="en-US" sz="950" kern="0" spc="95" dirty="0">
                <a:solidFill>
                  <a:srgbClr val="2B3237"/>
                </a:solidFill>
                <a:latin typeface="IBM Plex Sans SemiBold" pitchFamily="34" charset="0"/>
                <a:ea typeface="IBM Plex Sans SemiBold" pitchFamily="34" charset="-122"/>
                <a:cs typeface="IBM Plex Sans SemiBold" pitchFamily="34" charset="-120"/>
              </a:rPr>
              <a:t>WHAT HOLDS</a:t>
            </a:r>
            <a:endParaRPr lang="en-US" sz="950" dirty="0"/>
          </a:p>
        </p:txBody>
      </p:sp>
      <p:sp>
        <p:nvSpPr>
          <p:cNvPr id="9" name="Text 6"/>
          <p:cNvSpPr/>
          <p:nvPr/>
        </p:nvSpPr>
        <p:spPr>
          <a:xfrm>
            <a:off x="4288999" y="4415653"/>
            <a:ext cx="2257118" cy="3580733"/>
          </a:xfrm>
          <a:prstGeom prst="rect">
            <a:avLst/>
          </a:prstGeom>
          <a:noFill/>
          <a:ln/>
        </p:spPr>
        <p:txBody>
          <a:bodyPr wrap="square" lIns="0" tIns="0" rIns="0" bIns="0" rtlCol="0" anchor="t">
            <a:normAutofit/>
          </a:bodyPr>
          <a:lstStyle/>
          <a:p>
            <a:pPr marL="243840" indent="-243840" algn="l">
              <a:lnSpc>
                <a:spcPct val="125000"/>
              </a:lnSpc>
              <a:buSzPct val="100000"/>
              <a:buChar char="•"/>
            </a:pPr>
            <a:r>
              <a:rPr lang="en-US" sz="1200" b="1" dirty="0">
                <a:solidFill>
                  <a:srgbClr val="2B3237"/>
                </a:solidFill>
                <a:latin typeface="IBM Plex Sans Bold" pitchFamily="34" charset="0"/>
                <a:ea typeface="IBM Plex Sans Bold" pitchFamily="34" charset="-122"/>
                <a:cs typeface="IBM Plex Sans Bold" pitchFamily="34" charset="-120"/>
              </a:rPr>
              <a:t>Concentration:</a:t>
            </a:r>
            <a:r>
              <a:rPr lang="en-US" sz="1200" dirty="0">
                <a:solidFill>
                  <a:srgbClr val="2B3237"/>
                </a:solidFill>
                <a:latin typeface="IBM Plex Sans" pitchFamily="34" charset="0"/>
                <a:ea typeface="IBM Plex Sans" pitchFamily="34" charset="-122"/>
                <a:cs typeface="IBM Plex Sans" pitchFamily="34" charset="-120"/>
              </a:rPr>
              <a:t> Texas is largest at 59.02M metric tons CO₂e; Florida is second at 47.11M.</a:t>
            </a:r>
            <a:endParaRPr lang="en-US" sz="1200" dirty="0"/>
          </a:p>
          <a:p>
            <a:pPr marL="243840" indent="-243840" algn="l">
              <a:lnSpc>
                <a:spcPct val="125000"/>
              </a:lnSpc>
              <a:buSzPct val="100000"/>
              <a:buChar char="•"/>
            </a:pPr>
            <a:r>
              <a:rPr lang="en-US" sz="1200" b="1" dirty="0">
                <a:solidFill>
                  <a:srgbClr val="2B3237"/>
                </a:solidFill>
                <a:latin typeface="IBM Plex Sans Bold" pitchFamily="34" charset="0"/>
                <a:ea typeface="IBM Plex Sans Bold" pitchFamily="34" charset="-122"/>
                <a:cs typeface="IBM Plex Sans Bold" pitchFamily="34" charset="-120"/>
              </a:rPr>
              <a:t>Hotspots:</a:t>
            </a:r>
            <a:r>
              <a:rPr lang="en-US" sz="1200" dirty="0">
                <a:solidFill>
                  <a:srgbClr val="2B3237"/>
                </a:solidFill>
                <a:latin typeface="IBM Plex Sans" pitchFamily="34" charset="0"/>
                <a:ea typeface="IBM Plex Sans" pitchFamily="34" charset="-122"/>
                <a:cs typeface="IBM Plex Sans" pitchFamily="34" charset="-120"/>
              </a:rPr>
              <a:t> Maricopa County, AZ and Harris County, TX lead at 9.81M and 9.68M.</a:t>
            </a:r>
            <a:endParaRPr lang="en-US" sz="1200" dirty="0"/>
          </a:p>
          <a:p>
            <a:pPr marL="243840" indent="-243840" algn="l">
              <a:lnSpc>
                <a:spcPct val="125000"/>
              </a:lnSpc>
              <a:buSzPct val="100000"/>
              <a:buChar char="•"/>
            </a:pPr>
            <a:r>
              <a:rPr lang="en-US" sz="1200" b="1" dirty="0">
                <a:solidFill>
                  <a:srgbClr val="2B3237"/>
                </a:solidFill>
                <a:latin typeface="IBM Plex Sans Bold" pitchFamily="34" charset="0"/>
                <a:ea typeface="IBM Plex Sans Bold" pitchFamily="34" charset="-122"/>
                <a:cs typeface="IBM Plex Sans Bold" pitchFamily="34" charset="-120"/>
              </a:rPr>
              <a:t>Normalization:</a:t>
            </a:r>
            <a:r>
              <a:rPr lang="en-US" sz="1200" dirty="0">
                <a:solidFill>
                  <a:srgbClr val="2B3237"/>
                </a:solidFill>
                <a:latin typeface="IBM Plex Sans" pitchFamily="34" charset="0"/>
                <a:ea typeface="IBM Plex Sans" pitchFamily="34" charset="-122"/>
                <a:cs typeface="IBM Plex Sans" pitchFamily="34" charset="-120"/>
              </a:rPr>
              <a:t> calculated Pearson correlation between emissions and population is approximately −0.22.</a:t>
            </a:r>
            <a:endParaRPr lang="en-US" sz="1200" dirty="0"/>
          </a:p>
          <a:p>
            <a:pPr marL="243840" indent="-243840" algn="l">
              <a:lnSpc>
                <a:spcPct val="125000"/>
              </a:lnSpc>
              <a:buSzPct val="100000"/>
              <a:buChar char="•"/>
            </a:pPr>
            <a:r>
              <a:rPr lang="en-US" sz="1200" b="1" dirty="0">
                <a:solidFill>
                  <a:srgbClr val="2B3237"/>
                </a:solidFill>
                <a:latin typeface="IBM Plex Sans Bold" pitchFamily="34" charset="0"/>
                <a:ea typeface="IBM Plex Sans Bold" pitchFamily="34" charset="-122"/>
                <a:cs typeface="IBM Plex Sans Bold" pitchFamily="34" charset="-120"/>
              </a:rPr>
              <a:t>Trust risk:</a:t>
            </a:r>
            <a:r>
              <a:rPr lang="en-US" sz="1200" dirty="0">
                <a:solidFill>
                  <a:srgbClr val="2B3237"/>
                </a:solidFill>
                <a:latin typeface="IBM Plex Sans" pitchFamily="34" charset="0"/>
                <a:ea typeface="IBM Plex Sans" pitchFamily="34" charset="-122"/>
                <a:cs typeface="IBM Plex Sans" pitchFamily="34" charset="-120"/>
              </a:rPr>
              <a:t> the map, donut percentages, and population narrative need explicit scope and units.</a:t>
            </a:r>
            <a:endParaRPr lang="en-US" sz="1200" dirty="0"/>
          </a:p>
        </p:txBody>
      </p:sp>
      <p:sp>
        <p:nvSpPr>
          <p:cNvPr id="10" name="Text 7"/>
          <p:cNvSpPr/>
          <p:nvPr/>
        </p:nvSpPr>
        <p:spPr>
          <a:xfrm>
            <a:off x="3738827" y="10357510"/>
            <a:ext cx="462599" cy="180991"/>
          </a:xfrm>
          <a:prstGeom prst="rect">
            <a:avLst/>
          </a:prstGeom>
          <a:noFill/>
          <a:ln/>
        </p:spPr>
        <p:txBody>
          <a:bodyPr wrap="none" lIns="0" tIns="0" rIns="0" bIns="0" rtlCol="0" anchor="ctr"/>
          <a:lstStyle/>
          <a:p>
            <a:pPr marL="0" indent="0" algn="l">
              <a:lnSpc>
                <a:spcPct val="125000"/>
              </a:lnSpc>
              <a:buNone/>
            </a:pPr>
            <a:r>
              <a:rPr lang="en-US" sz="950" kern="0" spc="95" dirty="0">
                <a:solidFill>
                  <a:srgbClr val="2B3237"/>
                </a:solidFill>
                <a:latin typeface="IBM Plex Sans SemiBold" pitchFamily="34" charset="0"/>
                <a:ea typeface="IBM Plex Sans SemiBold" pitchFamily="34" charset="-122"/>
                <a:cs typeface="IBM Plex Sans SemiBold"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36577" y="736578"/>
            <a:ext cx="6467038" cy="152559"/>
          </a:xfrm>
          <a:prstGeom prst="rect">
            <a:avLst/>
          </a:prstGeom>
          <a:noFill/>
          <a:ln/>
        </p:spPr>
        <p:txBody>
          <a:bodyPr wrap="none" lIns="0" tIns="0" rIns="0" bIns="0" rtlCol="0" anchor="t"/>
          <a:lstStyle/>
          <a:p>
            <a:pPr marL="0" indent="0" algn="l">
              <a:lnSpc>
                <a:spcPct val="108000"/>
              </a:lnSpc>
              <a:buNone/>
            </a:pPr>
            <a:r>
              <a:rPr lang="en-US" sz="900" kern="0" spc="92" dirty="0">
                <a:solidFill>
                  <a:srgbClr val="20262B"/>
                </a:solidFill>
                <a:latin typeface="IBM Plex Sans SemiBold" pitchFamily="34" charset="0"/>
                <a:ea typeface="IBM Plex Sans SemiBold" pitchFamily="34" charset="-122"/>
                <a:cs typeface="IBM Plex Sans SemiBold" pitchFamily="34" charset="-120"/>
              </a:rPr>
              <a:t>02 · SOURCE CONTRACT</a:t>
            </a:r>
            <a:endParaRPr lang="en-US" sz="900" dirty="0"/>
          </a:p>
        </p:txBody>
      </p:sp>
      <p:sp>
        <p:nvSpPr>
          <p:cNvPr id="3" name="Text 1"/>
          <p:cNvSpPr/>
          <p:nvPr/>
        </p:nvSpPr>
        <p:spPr>
          <a:xfrm>
            <a:off x="736577" y="964216"/>
            <a:ext cx="6088933" cy="1223117"/>
          </a:xfrm>
          <a:prstGeom prst="rect">
            <a:avLst/>
          </a:prstGeom>
          <a:noFill/>
          <a:ln/>
        </p:spPr>
        <p:txBody>
          <a:bodyPr wrap="square" lIns="0" tIns="0" rIns="0" bIns="0" rtlCol="0" anchor="t">
            <a:normAutofit/>
          </a:bodyPr>
          <a:lstStyle/>
          <a:p>
            <a:pPr marL="0" indent="0" algn="l">
              <a:lnSpc>
                <a:spcPct val="92000"/>
              </a:lnSpc>
              <a:buNone/>
            </a:pPr>
            <a:r>
              <a:rPr lang="en-US" sz="2900" dirty="0">
                <a:solidFill>
                  <a:srgbClr val="20262B"/>
                </a:solidFill>
                <a:latin typeface="IBM Plex Sans Condensed" pitchFamily="34" charset="0"/>
                <a:ea typeface="IBM Plex Sans Condensed" pitchFamily="34" charset="-122"/>
                <a:cs typeface="IBM Plex Sans Condensed" pitchFamily="34" charset="-120"/>
              </a:rPr>
              <a:t>The source file is broad enough for exploration, but not yet a clean analytical contract</a:t>
            </a:r>
            <a:endParaRPr lang="en-US" sz="2900" dirty="0"/>
          </a:p>
        </p:txBody>
      </p:sp>
      <p:sp>
        <p:nvSpPr>
          <p:cNvPr id="4" name="Text 2"/>
          <p:cNvSpPr/>
          <p:nvPr/>
        </p:nvSpPr>
        <p:spPr>
          <a:xfrm>
            <a:off x="736577" y="2373616"/>
            <a:ext cx="6088933" cy="986863"/>
          </a:xfrm>
          <a:prstGeom prst="rect">
            <a:avLst/>
          </a:prstGeom>
          <a:noFill/>
          <a:ln/>
        </p:spPr>
        <p:txBody>
          <a:bodyPr wrap="square" lIns="0" tIns="0" rIns="0" bIns="0" rtlCol="0" anchor="t">
            <a:normAutofit/>
          </a:bodyPr>
          <a:lstStyle/>
          <a:p>
            <a:pPr marL="0" indent="0" algn="l">
              <a:lnSpc>
                <a:spcPct val="123000"/>
              </a:lnSpc>
              <a:buNone/>
            </a:pPr>
            <a:r>
              <a:rPr lang="en-US" sz="1300" dirty="0">
                <a:solidFill>
                  <a:srgbClr val="2B3237"/>
                </a:solidFill>
                <a:latin typeface="IBM Plex Sans" pitchFamily="34" charset="0"/>
                <a:ea typeface="IBM Plex Sans" pitchFamily="34" charset="-122"/>
                <a:cs typeface="IBM Plex Sans" pitchFamily="34" charset="-120"/>
              </a:rPr>
              <a:t>The CSV is a useful discovery surface: it covers 3,141 county or county-equivalent records, 51 state abbreviations including DC, and 58 columns. But the file currently makes downstream meaning depend on analyst interpretation and repeated query logic.</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6577" y="3528731"/>
          <a:ext cx="6088933" cy="3242134"/>
        </p:xfrm>
        <a:graphic>
          <a:graphicData uri="http://schemas.openxmlformats.org/drawingml/2006/table">
            <a:tbl>
              <a:tblPr/>
              <a:tblGrid>
                <a:gridCol w="1217787">
                  <a:extLst>
                    <a:ext uri="{9D8B030D-6E8A-4147-A177-3AD203B41FA5}">
                      <a16:colId xmlns:a16="http://schemas.microsoft.com/office/drawing/2014/main" val="20000"/>
                    </a:ext>
                  </a:extLst>
                </a:gridCol>
                <a:gridCol w="2435573">
                  <a:extLst>
                    <a:ext uri="{9D8B030D-6E8A-4147-A177-3AD203B41FA5}">
                      <a16:colId xmlns:a16="http://schemas.microsoft.com/office/drawing/2014/main" val="20001"/>
                    </a:ext>
                  </a:extLst>
                </a:gridCol>
                <a:gridCol w="2435573">
                  <a:extLst>
                    <a:ext uri="{9D8B030D-6E8A-4147-A177-3AD203B41FA5}">
                      <a16:colId xmlns:a16="http://schemas.microsoft.com/office/drawing/2014/main" val="20002"/>
                    </a:ext>
                  </a:extLst>
                </a:gridCol>
              </a:tblGrid>
              <a:tr h="440322">
                <a:tc>
                  <a:txBody>
                    <a:bodyPr/>
                    <a:lstStyle/>
                    <a:p>
                      <a:pPr marL="0" indent="0">
                        <a:buNone/>
                      </a:pPr>
                      <a:r>
                        <a:rPr lang="en-US" sz="950" kern="0" spc="76" dirty="0">
                          <a:solidFill>
                            <a:srgbClr val="FFFFFF"/>
                          </a:solidFill>
                          <a:latin typeface="IBM Plex Sans" pitchFamily="34" charset="0"/>
                          <a:ea typeface="IBM Plex Sans" pitchFamily="34" charset="-122"/>
                          <a:cs typeface="IBM Plex Sans" pitchFamily="34" charset="-120"/>
                        </a:rPr>
                        <a:t>CHECK</a:t>
                      </a:r>
                      <a:endParaRPr lang="en-US" sz="950" dirty="0">
                        <a:latin typeface="IBM Plex Sans" charset="0"/>
                        <a:ea typeface="IBM Plex Sans" charset="0"/>
                        <a:cs typeface="IBM Plex Sans" charset="0"/>
                      </a:endParaRPr>
                    </a:p>
                  </a:txBody>
                  <a:tcPr marL="127000" marR="127000" marT="127000" marB="127000" anchor="ctr">
                    <a:lnL w="12700" cap="flat" cmpd="sng" algn="ctr">
                      <a:solidFill>
                        <a:srgbClr val="20262B"/>
                      </a:solidFill>
                      <a:prstDash val="solid"/>
                      <a:round/>
                      <a:headEnd type="none" w="med" len="med"/>
                      <a:tailEnd type="none" w="med" len="med"/>
                    </a:lnL>
                    <a:lnR w="12700" cap="flat" cmpd="sng" algn="ctr">
                      <a:solidFill>
                        <a:srgbClr val="20262B"/>
                      </a:solidFill>
                      <a:prstDash val="solid"/>
                      <a:round/>
                      <a:headEnd type="none" w="med" len="med"/>
                      <a:tailEnd type="none" w="med" len="med"/>
                    </a:lnR>
                    <a:lnT w="12700" cap="flat" cmpd="sng" algn="ctr">
                      <a:solidFill>
                        <a:srgbClr val="20262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20262B"/>
                    </a:solidFill>
                  </a:tcPr>
                </a:tc>
                <a:tc>
                  <a:txBody>
                    <a:bodyPr/>
                    <a:lstStyle/>
                    <a:p>
                      <a:pPr marL="0" indent="0">
                        <a:buNone/>
                      </a:pPr>
                      <a:r>
                        <a:rPr lang="en-US" sz="950" kern="0" spc="76" dirty="0">
                          <a:solidFill>
                            <a:srgbClr val="FFFFFF"/>
                          </a:solidFill>
                          <a:latin typeface="IBM Plex Sans" pitchFamily="34" charset="0"/>
                          <a:ea typeface="IBM Plex Sans" pitchFamily="34" charset="-122"/>
                          <a:cs typeface="IBM Plex Sans" pitchFamily="34" charset="-120"/>
                        </a:rPr>
                        <a:t>OBSERVED STATE</a:t>
                      </a:r>
                      <a:endParaRPr lang="en-US" sz="950" dirty="0">
                        <a:latin typeface="IBM Plex Sans" charset="0"/>
                        <a:ea typeface="IBM Plex Sans" charset="0"/>
                        <a:cs typeface="IBM Plex Sans" charset="0"/>
                      </a:endParaRPr>
                    </a:p>
                  </a:txBody>
                  <a:tcPr marL="127000" marR="127000" marT="127000" marB="127000" anchor="ctr">
                    <a:lnL w="12700" cap="flat" cmpd="sng" algn="ctr">
                      <a:solidFill>
                        <a:srgbClr val="20262B"/>
                      </a:solidFill>
                      <a:prstDash val="solid"/>
                      <a:round/>
                      <a:headEnd type="none" w="med" len="med"/>
                      <a:tailEnd type="none" w="med" len="med"/>
                    </a:lnL>
                    <a:lnR w="12700" cap="flat" cmpd="sng" algn="ctr">
                      <a:solidFill>
                        <a:srgbClr val="20262B"/>
                      </a:solidFill>
                      <a:prstDash val="solid"/>
                      <a:round/>
                      <a:headEnd type="none" w="med" len="med"/>
                      <a:tailEnd type="none" w="med" len="med"/>
                    </a:lnR>
                    <a:lnT w="12700" cap="flat" cmpd="sng" algn="ctr">
                      <a:solidFill>
                        <a:srgbClr val="20262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20262B"/>
                    </a:solidFill>
                  </a:tcPr>
                </a:tc>
                <a:tc>
                  <a:txBody>
                    <a:bodyPr/>
                    <a:lstStyle/>
                    <a:p>
                      <a:pPr marL="0" indent="0">
                        <a:buNone/>
                      </a:pPr>
                      <a:r>
                        <a:rPr lang="en-US" sz="950" kern="0" spc="76" dirty="0">
                          <a:solidFill>
                            <a:srgbClr val="FFFFFF"/>
                          </a:solidFill>
                          <a:latin typeface="IBM Plex Sans" pitchFamily="34" charset="0"/>
                          <a:ea typeface="IBM Plex Sans" pitchFamily="34" charset="-122"/>
                          <a:cs typeface="IBM Plex Sans" pitchFamily="34" charset="-120"/>
                        </a:rPr>
                        <a:t>IMPLICATION</a:t>
                      </a:r>
                      <a:endParaRPr lang="en-US" sz="950" dirty="0">
                        <a:latin typeface="IBM Plex Sans" charset="0"/>
                        <a:ea typeface="IBM Plex Sans" charset="0"/>
                        <a:cs typeface="IBM Plex Sans" charset="0"/>
                      </a:endParaRPr>
                    </a:p>
                  </a:txBody>
                  <a:tcPr marL="127000" marR="127000" marT="127000" marB="127000" anchor="ctr">
                    <a:lnL w="12700" cap="flat" cmpd="sng" algn="ctr">
                      <a:solidFill>
                        <a:srgbClr val="20262B"/>
                      </a:solidFill>
                      <a:prstDash val="solid"/>
                      <a:round/>
                      <a:headEnd type="none" w="med" len="med"/>
                      <a:tailEnd type="none" w="med" len="med"/>
                    </a:lnL>
                    <a:lnR w="12700" cap="flat" cmpd="sng" algn="ctr">
                      <a:solidFill>
                        <a:srgbClr val="20262B"/>
                      </a:solidFill>
                      <a:prstDash val="solid"/>
                      <a:round/>
                      <a:headEnd type="none" w="med" len="med"/>
                      <a:tailEnd type="none" w="med" len="med"/>
                    </a:lnR>
                    <a:lnT w="12700" cap="flat" cmpd="sng" algn="ctr">
                      <a:solidFill>
                        <a:srgbClr val="20262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20262B"/>
                    </a:solidFill>
                  </a:tcPr>
                </a:tc>
                <a:extLst>
                  <a:ext uri="{0D108BD9-81ED-4DB2-BD59-A6C34878D82A}">
                    <a16:rowId xmlns:a16="http://schemas.microsoft.com/office/drawing/2014/main" val="10000"/>
                  </a:ext>
                </a:extLst>
              </a:tr>
              <a:tr h="700453">
                <a:tc>
                  <a:txBody>
                    <a:bodyPr/>
                    <a:lstStyle/>
                    <a:p>
                      <a:pPr marL="0" indent="0">
                        <a:buNone/>
                      </a:pPr>
                      <a:r>
                        <a:rPr lang="en-US" sz="1150" b="1" dirty="0">
                          <a:solidFill>
                            <a:srgbClr val="20262B"/>
                          </a:solidFill>
                          <a:latin typeface="IBM Plex Sans" pitchFamily="34" charset="0"/>
                          <a:ea typeface="IBM Plex Sans" pitchFamily="34" charset="-122"/>
                          <a:cs typeface="IBM Plex Sans" pitchFamily="34" charset="-120"/>
                        </a:rPr>
                        <a:t>Rows</a:t>
                      </a:r>
                      <a:endParaRPr lang="en-US" sz="1150" dirty="0">
                        <a:latin typeface="IBM Plex Sans" charset="0"/>
                        <a:ea typeface="IBM Plex Sans" charset="0"/>
                        <a:cs typeface="IBM Plex Sans" charset="0"/>
                      </a:endParaRPr>
                    </a:p>
                  </a:txBody>
                  <a:tcPr marL="127000" marR="127000" marT="127000" marB="1270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tc>
                  <a:txBody>
                    <a:bodyPr/>
                    <a:lstStyle/>
                    <a:p>
                      <a:pPr marL="0" indent="0">
                        <a:buNone/>
                      </a:pPr>
                      <a:r>
                        <a:rPr lang="en-US" sz="1150" dirty="0">
                          <a:solidFill>
                            <a:srgbClr val="2B3237"/>
                          </a:solidFill>
                          <a:latin typeface="IBM Plex Sans" pitchFamily="34" charset="0"/>
                          <a:ea typeface="IBM Plex Sans" pitchFamily="34" charset="-122"/>
                          <a:cs typeface="IBM Plex Sans" pitchFamily="34" charset="-120"/>
                        </a:rPr>
                        <a:t>3,141 county/area records</a:t>
                      </a:r>
                      <a:endParaRPr lang="en-US" sz="1150" dirty="0">
                        <a:latin typeface="IBM Plex Sans" charset="0"/>
                        <a:ea typeface="IBM Plex Sans" charset="0"/>
                        <a:cs typeface="IBM Plex Sans" charset="0"/>
                      </a:endParaRPr>
                    </a:p>
                  </a:txBody>
                  <a:tcPr marL="127000" marR="127000" marT="127000" marB="1270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tc>
                  <a:txBody>
                    <a:bodyPr/>
                    <a:lstStyle/>
                    <a:p>
                      <a:pPr marL="0" indent="0">
                        <a:buNone/>
                      </a:pPr>
                      <a:r>
                        <a:rPr lang="en-US" sz="1150" dirty="0">
                          <a:solidFill>
                            <a:srgbClr val="2B3237"/>
                          </a:solidFill>
                          <a:latin typeface="IBM Plex Sans" pitchFamily="34" charset="0"/>
                          <a:ea typeface="IBM Plex Sans" pitchFamily="34" charset="-122"/>
                          <a:cs typeface="IBM Plex Sans" pitchFamily="34" charset="-120"/>
                        </a:rPr>
                        <a:t>Good exploration base; add stable keys.</a:t>
                      </a:r>
                      <a:endParaRPr lang="en-US" sz="1150" dirty="0">
                        <a:latin typeface="IBM Plex Sans" charset="0"/>
                        <a:ea typeface="IBM Plex Sans" charset="0"/>
                        <a:cs typeface="IBM Plex Sans" charset="0"/>
                      </a:endParaRPr>
                    </a:p>
                  </a:txBody>
                  <a:tcPr marL="127000" marR="127000" marT="127000" marB="1270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extLst>
                  <a:ext uri="{0D108BD9-81ED-4DB2-BD59-A6C34878D82A}">
                    <a16:rowId xmlns:a16="http://schemas.microsoft.com/office/drawing/2014/main" val="10001"/>
                  </a:ext>
                </a:extLst>
              </a:tr>
              <a:tr h="700453">
                <a:tc>
                  <a:txBody>
                    <a:bodyPr/>
                    <a:lstStyle/>
                    <a:p>
                      <a:pPr marL="0" indent="0">
                        <a:buNone/>
                      </a:pPr>
                      <a:r>
                        <a:rPr lang="en-US" sz="1150" b="1" dirty="0">
                          <a:solidFill>
                            <a:srgbClr val="20262B"/>
                          </a:solidFill>
                          <a:latin typeface="IBM Plex Sans" pitchFamily="34" charset="0"/>
                          <a:ea typeface="IBM Plex Sans" pitchFamily="34" charset="-122"/>
                          <a:cs typeface="IBM Plex Sans" pitchFamily="34" charset="-120"/>
                        </a:rPr>
                        <a:t>Columns</a:t>
                      </a:r>
                      <a:endParaRPr lang="en-US" sz="1150" dirty="0">
                        <a:latin typeface="IBM Plex Sans" charset="0"/>
                        <a:ea typeface="IBM Plex Sans" charset="0"/>
                        <a:cs typeface="IBM Plex Sans" charset="0"/>
                      </a:endParaRPr>
                    </a:p>
                  </a:txBody>
                  <a:tcPr marL="127000" marR="127000" marT="127000" marB="1270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tc>
                  <a:txBody>
                    <a:bodyPr/>
                    <a:lstStyle/>
                    <a:p>
                      <a:pPr marL="0" indent="0">
                        <a:buNone/>
                      </a:pPr>
                      <a:r>
                        <a:rPr lang="en-US" sz="1150" dirty="0">
                          <a:solidFill>
                            <a:srgbClr val="2B3237"/>
                          </a:solidFill>
                          <a:latin typeface="IBM Plex Sans" pitchFamily="34" charset="0"/>
                          <a:ea typeface="IBM Plex Sans" pitchFamily="34" charset="-122"/>
                          <a:cs typeface="IBM Plex Sans" pitchFamily="34" charset="-120"/>
                        </a:rPr>
                        <a:t>58; repeated header families</a:t>
                      </a:r>
                      <a:endParaRPr lang="en-US" sz="1150" dirty="0">
                        <a:latin typeface="IBM Plex Sans" charset="0"/>
                        <a:ea typeface="IBM Plex Sans" charset="0"/>
                        <a:cs typeface="IBM Plex Sans" charset="0"/>
                      </a:endParaRPr>
                    </a:p>
                  </a:txBody>
                  <a:tcPr marL="127000" marR="127000" marT="127000" marB="1270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tc>
                  <a:txBody>
                    <a:bodyPr/>
                    <a:lstStyle/>
                    <a:p>
                      <a:pPr marL="0" indent="0">
                        <a:buNone/>
                      </a:pPr>
                      <a:r>
                        <a:rPr lang="en-US" sz="1150" dirty="0">
                          <a:solidFill>
                            <a:srgbClr val="2B3237"/>
                          </a:solidFill>
                          <a:latin typeface="IBM Plex Sans" pitchFamily="34" charset="0"/>
                          <a:ea typeface="IBM Plex Sans" pitchFamily="34" charset="-122"/>
                          <a:cs typeface="IBM Plex Sans" pitchFamily="34" charset="-120"/>
                        </a:rPr>
                        <a:t>Semantic joins and documentation are fragile.</a:t>
                      </a:r>
                      <a:endParaRPr lang="en-US" sz="1150" dirty="0">
                        <a:latin typeface="IBM Plex Sans" charset="0"/>
                        <a:ea typeface="IBM Plex Sans" charset="0"/>
                        <a:cs typeface="IBM Plex Sans" charset="0"/>
                      </a:endParaRPr>
                    </a:p>
                  </a:txBody>
                  <a:tcPr marL="127000" marR="127000" marT="127000" marB="1270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extLst>
                  <a:ext uri="{0D108BD9-81ED-4DB2-BD59-A6C34878D82A}">
                    <a16:rowId xmlns:a16="http://schemas.microsoft.com/office/drawing/2014/main" val="10002"/>
                  </a:ext>
                </a:extLst>
              </a:tr>
              <a:tr h="700453">
                <a:tc>
                  <a:txBody>
                    <a:bodyPr/>
                    <a:lstStyle/>
                    <a:p>
                      <a:pPr marL="0" indent="0">
                        <a:buNone/>
                      </a:pPr>
                      <a:r>
                        <a:rPr lang="en-US" sz="1150" b="1" dirty="0">
                          <a:solidFill>
                            <a:srgbClr val="20262B"/>
                          </a:solidFill>
                          <a:latin typeface="IBM Plex Sans" pitchFamily="34" charset="0"/>
                          <a:ea typeface="IBM Plex Sans" pitchFamily="34" charset="-122"/>
                          <a:cs typeface="IBM Plex Sans" pitchFamily="34" charset="-120"/>
                        </a:rPr>
                        <a:t>GHG field</a:t>
                      </a:r>
                      <a:endParaRPr lang="en-US" sz="1150" dirty="0">
                        <a:latin typeface="IBM Plex Sans" charset="0"/>
                        <a:ea typeface="IBM Plex Sans" charset="0"/>
                        <a:cs typeface="IBM Plex Sans" charset="0"/>
                      </a:endParaRPr>
                    </a:p>
                  </a:txBody>
                  <a:tcPr marL="127000" marR="127000" marT="127000" marB="1270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tc>
                  <a:txBody>
                    <a:bodyPr/>
                    <a:lstStyle/>
                    <a:p>
                      <a:pPr marL="0" indent="0">
                        <a:buNone/>
                      </a:pPr>
                      <a:r>
                        <a:rPr lang="en-US" sz="1150" dirty="0">
                          <a:solidFill>
                            <a:srgbClr val="2B3237"/>
                          </a:solidFill>
                          <a:latin typeface="IBM Plex Sans" pitchFamily="34" charset="0"/>
                          <a:ea typeface="IBM Plex Sans" pitchFamily="34" charset="-122"/>
                          <a:cs typeface="IBM Plex Sans" pitchFamily="34" charset="-120"/>
                        </a:rPr>
                        <a:t>Text with commas; no blank/negative values observed</a:t>
                      </a:r>
                      <a:endParaRPr lang="en-US" sz="1150" dirty="0">
                        <a:latin typeface="IBM Plex Sans" charset="0"/>
                        <a:ea typeface="IBM Plex Sans" charset="0"/>
                        <a:cs typeface="IBM Plex Sans" charset="0"/>
                      </a:endParaRPr>
                    </a:p>
                  </a:txBody>
                  <a:tcPr marL="127000" marR="127000" marT="127000" marB="1270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tc>
                  <a:txBody>
                    <a:bodyPr/>
                    <a:lstStyle/>
                    <a:p>
                      <a:pPr marL="0" indent="0">
                        <a:buNone/>
                      </a:pPr>
                      <a:r>
                        <a:rPr lang="en-US" sz="1150" dirty="0">
                          <a:solidFill>
                            <a:srgbClr val="2B3237"/>
                          </a:solidFill>
                          <a:latin typeface="IBM Plex Sans" pitchFamily="34" charset="0"/>
                          <a:ea typeface="IBM Plex Sans" pitchFamily="34" charset="-122"/>
                          <a:cs typeface="IBM Plex Sans" pitchFamily="34" charset="-120"/>
                        </a:rPr>
                        <a:t>Cast upstream and validate at ingestion.</a:t>
                      </a:r>
                      <a:endParaRPr lang="en-US" sz="1150" dirty="0">
                        <a:latin typeface="IBM Plex Sans" charset="0"/>
                        <a:ea typeface="IBM Plex Sans" charset="0"/>
                        <a:cs typeface="IBM Plex Sans" charset="0"/>
                      </a:endParaRPr>
                    </a:p>
                  </a:txBody>
                  <a:tcPr marL="127000" marR="127000" marT="127000" marB="1270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extLst>
                  <a:ext uri="{0D108BD9-81ED-4DB2-BD59-A6C34878D82A}">
                    <a16:rowId xmlns:a16="http://schemas.microsoft.com/office/drawing/2014/main" val="10003"/>
                  </a:ext>
                </a:extLst>
              </a:tr>
              <a:tr h="700453">
                <a:tc>
                  <a:txBody>
                    <a:bodyPr/>
                    <a:lstStyle/>
                    <a:p>
                      <a:pPr marL="0" indent="0">
                        <a:buNone/>
                      </a:pPr>
                      <a:r>
                        <a:rPr lang="en-US" sz="1150" b="1" dirty="0">
                          <a:solidFill>
                            <a:srgbClr val="20262B"/>
                          </a:solidFill>
                          <a:latin typeface="IBM Plex Sans" pitchFamily="34" charset="0"/>
                          <a:ea typeface="IBM Plex Sans" pitchFamily="34" charset="-122"/>
                          <a:cs typeface="IBM Plex Sans" pitchFamily="34" charset="-120"/>
                        </a:rPr>
                        <a:t>Missing fields</a:t>
                      </a:r>
                      <a:endParaRPr lang="en-US" sz="1150" dirty="0">
                        <a:latin typeface="IBM Plex Sans" charset="0"/>
                        <a:ea typeface="IBM Plex Sans" charset="0"/>
                        <a:cs typeface="IBM Plex Sans" charset="0"/>
                      </a:endParaRPr>
                    </a:p>
                  </a:txBody>
                  <a:tcPr marL="127000" marR="127000" marT="127000" marB="1270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FFFEF8"/>
                      </a:solidFill>
                      <a:prstDash val="solid"/>
                      <a:round/>
                      <a:headEnd type="none" w="med" len="med"/>
                      <a:tailEnd type="none" w="med" len="med"/>
                    </a:lnB>
                    <a:solidFill>
                      <a:srgbClr val="FFFEF8"/>
                    </a:solidFill>
                  </a:tcPr>
                </a:tc>
                <a:tc>
                  <a:txBody>
                    <a:bodyPr/>
                    <a:lstStyle/>
                    <a:p>
                      <a:pPr marL="0" indent="0">
                        <a:buNone/>
                      </a:pPr>
                      <a:r>
                        <a:rPr lang="en-US" sz="1150" dirty="0">
                          <a:solidFill>
                            <a:srgbClr val="2B3237"/>
                          </a:solidFill>
                          <a:latin typeface="IBM Plex Sans" pitchFamily="34" charset="0"/>
                          <a:ea typeface="IBM Plex Sans" pitchFamily="34" charset="-122"/>
                          <a:cs typeface="IBM Plex Sans" pitchFamily="34" charset="-120"/>
                        </a:rPr>
                        <a:t>Buildings, area, establishments 100% empty</a:t>
                      </a:r>
                      <a:endParaRPr lang="en-US" sz="1150" dirty="0">
                        <a:latin typeface="IBM Plex Sans" charset="0"/>
                        <a:ea typeface="IBM Plex Sans" charset="0"/>
                        <a:cs typeface="IBM Plex Sans" charset="0"/>
                      </a:endParaRPr>
                    </a:p>
                  </a:txBody>
                  <a:tcPr marL="127000" marR="127000" marT="127000" marB="1270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FFFEF8"/>
                      </a:solidFill>
                      <a:prstDash val="solid"/>
                      <a:round/>
                      <a:headEnd type="none" w="med" len="med"/>
                      <a:tailEnd type="none" w="med" len="med"/>
                    </a:lnB>
                    <a:solidFill>
                      <a:srgbClr val="FFFEF8"/>
                    </a:solidFill>
                  </a:tcPr>
                </a:tc>
                <a:tc>
                  <a:txBody>
                    <a:bodyPr/>
                    <a:lstStyle/>
                    <a:p>
                      <a:pPr marL="0" indent="0">
                        <a:buNone/>
                      </a:pPr>
                      <a:r>
                        <a:rPr lang="en-US" sz="1150" dirty="0">
                          <a:solidFill>
                            <a:srgbClr val="2B3237"/>
                          </a:solidFill>
                          <a:latin typeface="IBM Plex Sans" pitchFamily="34" charset="0"/>
                          <a:ea typeface="IBM Plex Sans" pitchFamily="34" charset="-122"/>
                          <a:cs typeface="IBM Plex Sans" pitchFamily="34" charset="-120"/>
                        </a:rPr>
                        <a:t>Remove, populate, or mark unavailable.</a:t>
                      </a:r>
                      <a:endParaRPr lang="en-US" sz="1150" dirty="0">
                        <a:latin typeface="IBM Plex Sans" charset="0"/>
                        <a:ea typeface="IBM Plex Sans" charset="0"/>
                        <a:cs typeface="IBM Plex Sans" charset="0"/>
                      </a:endParaRPr>
                    </a:p>
                  </a:txBody>
                  <a:tcPr marL="127000" marR="127000" marT="127000" marB="1270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FFFEF8"/>
                      </a:solidFill>
                      <a:prstDash val="solid"/>
                      <a:round/>
                      <a:headEnd type="none" w="med" len="med"/>
                      <a:tailEnd type="none" w="med" len="med"/>
                    </a:lnB>
                    <a:solidFill>
                      <a:srgbClr val="FFFEF8"/>
                    </a:solidFill>
                  </a:tcPr>
                </a:tc>
                <a:extLst>
                  <a:ext uri="{0D108BD9-81ED-4DB2-BD59-A6C34878D82A}">
                    <a16:rowId xmlns:a16="http://schemas.microsoft.com/office/drawing/2014/main" val="10004"/>
                  </a:ext>
                </a:extLst>
              </a:tr>
            </a:tbl>
          </a:graphicData>
        </a:graphic>
      </p:graphicFrame>
      <p:pic>
        <p:nvPicPr>
          <p:cNvPr id="6" name="Image 0" descr="preencoded.png"/>
          <p:cNvPicPr>
            <a:picLocks noChangeAspect="1"/>
          </p:cNvPicPr>
          <p:nvPr/>
        </p:nvPicPr>
        <p:blipFill>
          <a:blip r:embed="rId3"/>
          <a:stretch>
            <a:fillRect/>
          </a:stretch>
        </p:blipFill>
        <p:spPr>
          <a:xfrm>
            <a:off x="736577" y="6939120"/>
            <a:ext cx="2622115" cy="1498511"/>
          </a:xfrm>
          <a:prstGeom prst="rect">
            <a:avLst/>
          </a:prstGeom>
        </p:spPr>
      </p:pic>
      <p:sp>
        <p:nvSpPr>
          <p:cNvPr id="7" name="Text 3"/>
          <p:cNvSpPr/>
          <p:nvPr/>
        </p:nvSpPr>
        <p:spPr>
          <a:xfrm>
            <a:off x="736577" y="8512711"/>
            <a:ext cx="6467038" cy="181606"/>
          </a:xfrm>
          <a:prstGeom prst="rect">
            <a:avLst/>
          </a:prstGeom>
          <a:noFill/>
          <a:ln/>
        </p:spPr>
        <p:txBody>
          <a:bodyPr wrap="none" lIns="0" tIns="0" rIns="0" bIns="0" rtlCol="0" anchor="t"/>
          <a:lstStyle/>
          <a:p>
            <a:pPr marL="0" indent="0" algn="l">
              <a:lnSpc>
                <a:spcPct val="117000"/>
              </a:lnSpc>
              <a:buNone/>
            </a:pPr>
            <a:r>
              <a:rPr lang="en-US" sz="1000" dirty="0">
                <a:solidFill>
                  <a:srgbClr val="66737A"/>
                </a:solidFill>
                <a:latin typeface="IBM Plex Sans" pitchFamily="34" charset="0"/>
                <a:ea typeface="IBM Plex Sans" pitchFamily="34" charset="-122"/>
                <a:cs typeface="IBM Plex Sans" pitchFamily="34" charset="-120"/>
              </a:rPr>
              <a:t>Data contract snapshot · supplied CSV and reviewed dashboard logic.</a:t>
            </a:r>
            <a:endParaRPr lang="en-US" sz="1000" dirty="0"/>
          </a:p>
        </p:txBody>
      </p:sp>
      <p:sp>
        <p:nvSpPr>
          <p:cNvPr id="8" name="Shape 4"/>
          <p:cNvSpPr/>
          <p:nvPr/>
        </p:nvSpPr>
        <p:spPr>
          <a:xfrm>
            <a:off x="736577" y="8862568"/>
            <a:ext cx="2892092" cy="1814460"/>
          </a:xfrm>
          <a:prstGeom prst="rect">
            <a:avLst/>
          </a:prstGeom>
          <a:solidFill>
            <a:srgbClr val="E7EAEB"/>
          </a:solidFill>
          <a:ln/>
        </p:spPr>
      </p:sp>
      <p:sp>
        <p:nvSpPr>
          <p:cNvPr id="9" name="Text 5"/>
          <p:cNvSpPr/>
          <p:nvPr/>
        </p:nvSpPr>
        <p:spPr>
          <a:xfrm>
            <a:off x="990555" y="9091130"/>
            <a:ext cx="2638115" cy="152559"/>
          </a:xfrm>
          <a:prstGeom prst="rect">
            <a:avLst/>
          </a:prstGeom>
          <a:noFill/>
          <a:ln/>
        </p:spPr>
        <p:txBody>
          <a:bodyPr wrap="none" lIns="0" tIns="0" rIns="0" bIns="0" rtlCol="0" anchor="t"/>
          <a:lstStyle/>
          <a:p>
            <a:pPr marL="0" indent="0" algn="l">
              <a:lnSpc>
                <a:spcPct val="108000"/>
              </a:lnSpc>
              <a:buNone/>
            </a:pPr>
            <a:r>
              <a:rPr lang="en-US" sz="900" kern="0" spc="92" dirty="0">
                <a:solidFill>
                  <a:srgbClr val="2B3237"/>
                </a:solidFill>
                <a:latin typeface="IBM Plex Sans SemiBold" pitchFamily="34" charset="0"/>
                <a:ea typeface="IBM Plex Sans SemiBold" pitchFamily="34" charset="-122"/>
                <a:cs typeface="IBM Plex Sans SemiBold" pitchFamily="34" charset="-120"/>
              </a:rPr>
              <a:t>SCHEMA AMBIGUITY</a:t>
            </a:r>
            <a:endParaRPr lang="en-US" sz="900" dirty="0"/>
          </a:p>
        </p:txBody>
      </p:sp>
      <p:sp>
        <p:nvSpPr>
          <p:cNvPr id="10" name="Text 6"/>
          <p:cNvSpPr/>
          <p:nvPr/>
        </p:nvSpPr>
        <p:spPr>
          <a:xfrm>
            <a:off x="990555" y="9351815"/>
            <a:ext cx="2384138" cy="1096651"/>
          </a:xfrm>
          <a:prstGeom prst="rect">
            <a:avLst/>
          </a:prstGeom>
          <a:noFill/>
          <a:ln/>
        </p:spPr>
        <p:txBody>
          <a:bodyPr wrap="square" lIns="0" tIns="0" rIns="0" bIns="0" rtlCol="0" anchor="t">
            <a:normAutofit/>
          </a:bodyPr>
          <a:lstStyle/>
          <a:p>
            <a:pPr marL="0" indent="0" algn="l">
              <a:lnSpc>
                <a:spcPct val="123000"/>
              </a:lnSpc>
              <a:buNone/>
            </a:pPr>
            <a:r>
              <a:rPr lang="en-US" sz="1150" dirty="0">
                <a:solidFill>
                  <a:srgbClr val="2B3237"/>
                </a:solidFill>
                <a:latin typeface="IBM Plex Sans" pitchFamily="34" charset="0"/>
                <a:ea typeface="IBM Plex Sans" pitchFamily="34" charset="-122"/>
                <a:cs typeface="IBM Plex Sans" pitchFamily="34" charset="-120"/>
              </a:rPr>
              <a:t>Eight column-name families repeat, including consumption, expenditures, utility customers, and per-capita measures. Consolidated city-county is 98.9% missing.</a:t>
            </a:r>
            <a:endParaRPr lang="en-US" sz="1150" dirty="0"/>
          </a:p>
        </p:txBody>
      </p:sp>
      <p:sp>
        <p:nvSpPr>
          <p:cNvPr id="11" name="Shape 7"/>
          <p:cNvSpPr/>
          <p:nvPr/>
        </p:nvSpPr>
        <p:spPr>
          <a:xfrm>
            <a:off x="3933418" y="8862568"/>
            <a:ext cx="2892092" cy="1814460"/>
          </a:xfrm>
          <a:prstGeom prst="rect">
            <a:avLst/>
          </a:prstGeom>
          <a:solidFill>
            <a:srgbClr val="E7EAEB"/>
          </a:solidFill>
          <a:ln/>
        </p:spPr>
      </p:sp>
      <p:sp>
        <p:nvSpPr>
          <p:cNvPr id="12" name="Text 8"/>
          <p:cNvSpPr/>
          <p:nvPr/>
        </p:nvSpPr>
        <p:spPr>
          <a:xfrm>
            <a:off x="4187395" y="9091130"/>
            <a:ext cx="2638115" cy="152559"/>
          </a:xfrm>
          <a:prstGeom prst="rect">
            <a:avLst/>
          </a:prstGeom>
          <a:noFill/>
          <a:ln/>
        </p:spPr>
        <p:txBody>
          <a:bodyPr wrap="none" lIns="0" tIns="0" rIns="0" bIns="0" rtlCol="0" anchor="t"/>
          <a:lstStyle/>
          <a:p>
            <a:pPr marL="0" indent="0" algn="l">
              <a:lnSpc>
                <a:spcPct val="108000"/>
              </a:lnSpc>
              <a:buNone/>
            </a:pPr>
            <a:r>
              <a:rPr lang="en-US" sz="900" kern="0" spc="92" dirty="0">
                <a:solidFill>
                  <a:srgbClr val="2B3237"/>
                </a:solidFill>
                <a:latin typeface="IBM Plex Sans SemiBold" pitchFamily="34" charset="0"/>
                <a:ea typeface="IBM Plex Sans SemiBold" pitchFamily="34" charset="-122"/>
                <a:cs typeface="IBM Plex Sans SemiBold" pitchFamily="34" charset="-120"/>
              </a:rPr>
              <a:t>INTERPRETATION GAP</a:t>
            </a:r>
            <a:endParaRPr lang="en-US" sz="900" dirty="0"/>
          </a:p>
        </p:txBody>
      </p:sp>
      <p:sp>
        <p:nvSpPr>
          <p:cNvPr id="13" name="Text 9"/>
          <p:cNvSpPr/>
          <p:nvPr/>
        </p:nvSpPr>
        <p:spPr>
          <a:xfrm>
            <a:off x="4187395" y="9351815"/>
            <a:ext cx="2384138" cy="1096651"/>
          </a:xfrm>
          <a:prstGeom prst="rect">
            <a:avLst/>
          </a:prstGeom>
          <a:noFill/>
          <a:ln/>
        </p:spPr>
        <p:txBody>
          <a:bodyPr wrap="square" lIns="0" tIns="0" rIns="0" bIns="0" rtlCol="0" anchor="t">
            <a:normAutofit/>
          </a:bodyPr>
          <a:lstStyle/>
          <a:p>
            <a:pPr marL="0" indent="0" algn="l">
              <a:lnSpc>
                <a:spcPct val="123000"/>
              </a:lnSpc>
              <a:buNone/>
            </a:pPr>
            <a:r>
              <a:rPr lang="en-US" sz="1150" dirty="0">
                <a:solidFill>
                  <a:srgbClr val="2B3237"/>
                </a:solidFill>
                <a:latin typeface="IBM Plex Sans" pitchFamily="34" charset="0"/>
                <a:ea typeface="IBM Plex Sans" pitchFamily="34" charset="-122"/>
                <a:cs typeface="IBM Plex Sans" pitchFamily="34" charset="-120"/>
              </a:rPr>
              <a:t>The filename and dashboard subtitle point to 2023, but the SQL does not expose a year or source field. Time scope is implicit rather than query-enforced.</a:t>
            </a:r>
            <a:endParaRPr lang="en-US" sz="1150" dirty="0"/>
          </a:p>
        </p:txBody>
      </p:sp>
      <p:sp>
        <p:nvSpPr>
          <p:cNvPr id="14" name="Text 10"/>
          <p:cNvSpPr/>
          <p:nvPr/>
        </p:nvSpPr>
        <p:spPr>
          <a:xfrm>
            <a:off x="3738827" y="10357510"/>
            <a:ext cx="462599" cy="180991"/>
          </a:xfrm>
          <a:prstGeom prst="rect">
            <a:avLst/>
          </a:prstGeom>
          <a:noFill/>
          <a:ln/>
        </p:spPr>
        <p:txBody>
          <a:bodyPr wrap="none" lIns="0" tIns="0" rIns="0" bIns="0" rtlCol="0" anchor="ctr"/>
          <a:lstStyle/>
          <a:p>
            <a:pPr marL="0" indent="0" algn="l">
              <a:lnSpc>
                <a:spcPct val="125000"/>
              </a:lnSpc>
              <a:buNone/>
            </a:pPr>
            <a:r>
              <a:rPr lang="en-US" sz="950" kern="0" spc="95" dirty="0">
                <a:solidFill>
                  <a:srgbClr val="2B3237"/>
                </a:solidFill>
                <a:latin typeface="IBM Plex Sans SemiBold" pitchFamily="34" charset="0"/>
                <a:ea typeface="IBM Plex Sans SemiBold" pitchFamily="34" charset="-122"/>
                <a:cs typeface="IBM Plex Sans SemiBold"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6577" y="736578"/>
            <a:ext cx="6467038" cy="156867"/>
          </a:xfrm>
          <a:prstGeom prst="rect">
            <a:avLst/>
          </a:prstGeom>
          <a:noFill/>
          <a:ln/>
        </p:spPr>
        <p:txBody>
          <a:bodyPr wrap="none" lIns="0" tIns="0" rIns="0" bIns="0" rtlCol="0" anchor="t"/>
          <a:lstStyle/>
          <a:p>
            <a:pPr marL="0" indent="0" algn="l">
              <a:lnSpc>
                <a:spcPct val="108000"/>
              </a:lnSpc>
              <a:buNone/>
            </a:pPr>
            <a:r>
              <a:rPr lang="en-US" sz="950" kern="0" spc="95" dirty="0">
                <a:solidFill>
                  <a:srgbClr val="006B78"/>
                </a:solidFill>
                <a:latin typeface="IBM Plex Sans SemiBold" pitchFamily="34" charset="0"/>
                <a:ea typeface="IBM Plex Sans SemiBold" pitchFamily="34" charset="-122"/>
                <a:cs typeface="IBM Plex Sans SemiBold" pitchFamily="34" charset="-120"/>
              </a:rPr>
              <a:t>03 · DENOMINATORS</a:t>
            </a:r>
            <a:endParaRPr lang="en-US" sz="950" dirty="0"/>
          </a:p>
        </p:txBody>
      </p:sp>
      <p:sp>
        <p:nvSpPr>
          <p:cNvPr id="3" name="Text 1"/>
          <p:cNvSpPr/>
          <p:nvPr/>
        </p:nvSpPr>
        <p:spPr>
          <a:xfrm>
            <a:off x="736577" y="972770"/>
            <a:ext cx="6088933" cy="1257272"/>
          </a:xfrm>
          <a:prstGeom prst="rect">
            <a:avLst/>
          </a:prstGeom>
          <a:noFill/>
          <a:ln/>
        </p:spPr>
        <p:txBody>
          <a:bodyPr wrap="square" lIns="0" tIns="0" rIns="0" bIns="0" rtlCol="0" anchor="t">
            <a:normAutofit lnSpcReduction="10000"/>
          </a:bodyPr>
          <a:lstStyle/>
          <a:p>
            <a:pPr marL="0" indent="0" algn="l">
              <a:lnSpc>
                <a:spcPct val="92000"/>
              </a:lnSpc>
              <a:buNone/>
            </a:pPr>
            <a:r>
              <a:rPr lang="en-US" sz="3000" dirty="0">
                <a:solidFill>
                  <a:srgbClr val="20262B"/>
                </a:solidFill>
                <a:latin typeface="IBM Plex Sans Condensed" pitchFamily="34" charset="0"/>
                <a:ea typeface="IBM Plex Sans Condensed" pitchFamily="34" charset="-122"/>
                <a:cs typeface="IBM Plex Sans Condensed" pitchFamily="34" charset="-120"/>
              </a:rPr>
              <a:t>The concentration findings are useful, but the dashboard mixes two different denominators</a:t>
            </a:r>
            <a:endParaRPr lang="en-US" sz="3000" dirty="0"/>
          </a:p>
        </p:txBody>
      </p:sp>
      <p:sp>
        <p:nvSpPr>
          <p:cNvPr id="4" name="Text 2"/>
          <p:cNvSpPr/>
          <p:nvPr/>
        </p:nvSpPr>
        <p:spPr>
          <a:xfrm>
            <a:off x="736577" y="2426849"/>
            <a:ext cx="6088933" cy="771533"/>
          </a:xfrm>
          <a:prstGeom prst="rect">
            <a:avLst/>
          </a:prstGeom>
          <a:noFill/>
          <a:ln/>
        </p:spPr>
        <p:txBody>
          <a:bodyPr wrap="square" lIns="0" tIns="0" rIns="0" bIns="0" rtlCol="0" anchor="t">
            <a:normAutofit/>
          </a:bodyPr>
          <a:lstStyle/>
          <a:p>
            <a:pPr marL="0" indent="0" algn="l">
              <a:lnSpc>
                <a:spcPct val="125000"/>
              </a:lnSpc>
              <a:buNone/>
            </a:pPr>
            <a:r>
              <a:rPr lang="en-US" sz="1350" dirty="0">
                <a:solidFill>
                  <a:srgbClr val="2B3237"/>
                </a:solidFill>
                <a:latin typeface="IBM Plex Sans" pitchFamily="34" charset="0"/>
                <a:ea typeface="IBM Plex Sans" pitchFamily="34" charset="-122"/>
                <a:cs typeface="IBM Plex Sans" pitchFamily="34" charset="-120"/>
              </a:rPr>
              <a:t>The state query intentionally limits the result to the top 10 before the pie chart is rendered. The resulting slices are therefore percentages of the top-10 subtotal, not percentages of all U.S. emissions.</a:t>
            </a:r>
            <a:endParaRPr lang="en-US" sz="1350" dirty="0"/>
          </a:p>
        </p:txBody>
      </p:sp>
      <p:sp>
        <p:nvSpPr>
          <p:cNvPr id="5" name="Shape 3"/>
          <p:cNvSpPr/>
          <p:nvPr/>
        </p:nvSpPr>
        <p:spPr>
          <a:xfrm>
            <a:off x="736577" y="3376173"/>
            <a:ext cx="1826458" cy="2563900"/>
          </a:xfrm>
          <a:prstGeom prst="rect">
            <a:avLst/>
          </a:prstGeom>
          <a:solidFill>
            <a:srgbClr val="00C2D9"/>
          </a:solidFill>
          <a:ln/>
        </p:spPr>
      </p:sp>
      <p:sp>
        <p:nvSpPr>
          <p:cNvPr id="6" name="Text 4"/>
          <p:cNvSpPr/>
          <p:nvPr/>
        </p:nvSpPr>
        <p:spPr>
          <a:xfrm>
            <a:off x="990555" y="3630150"/>
            <a:ext cx="1318504" cy="1173454"/>
          </a:xfrm>
          <a:prstGeom prst="rect">
            <a:avLst/>
          </a:prstGeom>
          <a:noFill/>
          <a:ln/>
        </p:spPr>
        <p:txBody>
          <a:bodyPr wrap="square" lIns="0" tIns="0" rIns="0" bIns="0" rtlCol="0" anchor="t">
            <a:normAutofit/>
          </a:bodyPr>
          <a:lstStyle/>
          <a:p>
            <a:pPr marL="0" indent="0" algn="l">
              <a:lnSpc>
                <a:spcPct val="87000"/>
              </a:lnSpc>
              <a:buNone/>
            </a:pPr>
            <a:r>
              <a:rPr lang="en-US" sz="4400" kern="0" spc="-44" dirty="0">
                <a:solidFill>
                  <a:srgbClr val="000000"/>
                </a:solidFill>
                <a:latin typeface="IBM Plex Sans Condensed" pitchFamily="34" charset="0"/>
                <a:ea typeface="IBM Plex Sans Condensed" pitchFamily="34" charset="-122"/>
                <a:cs typeface="IBM Plex Sans Condensed" pitchFamily="34" charset="-120"/>
              </a:rPr>
              <a:t>50.87%</a:t>
            </a:r>
            <a:endParaRPr lang="en-US" sz="4400" dirty="0"/>
          </a:p>
        </p:txBody>
      </p:sp>
      <p:sp>
        <p:nvSpPr>
          <p:cNvPr id="7" name="Text 5"/>
          <p:cNvSpPr/>
          <p:nvPr/>
        </p:nvSpPr>
        <p:spPr>
          <a:xfrm>
            <a:off x="990555" y="5000411"/>
            <a:ext cx="1318504" cy="685684"/>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000000"/>
                </a:solidFill>
                <a:latin typeface="IBM Plex Sans" pitchFamily="34" charset="0"/>
                <a:ea typeface="IBM Plex Sans" pitchFamily="34" charset="-122"/>
                <a:cs typeface="IBM Plex Sans" pitchFamily="34" charset="-120"/>
              </a:rPr>
              <a:t>Top 10 states' share of modeled emissions</a:t>
            </a:r>
            <a:endParaRPr lang="en-US" sz="1200" dirty="0"/>
          </a:p>
        </p:txBody>
      </p:sp>
      <p:sp>
        <p:nvSpPr>
          <p:cNvPr id="8" name="Shape 6"/>
          <p:cNvSpPr/>
          <p:nvPr/>
        </p:nvSpPr>
        <p:spPr>
          <a:xfrm>
            <a:off x="2867722" y="3376173"/>
            <a:ext cx="1826581" cy="2563900"/>
          </a:xfrm>
          <a:prstGeom prst="rect">
            <a:avLst/>
          </a:prstGeom>
          <a:solidFill>
            <a:srgbClr val="E7EAEB"/>
          </a:solidFill>
          <a:ln/>
        </p:spPr>
      </p:sp>
      <p:sp>
        <p:nvSpPr>
          <p:cNvPr id="9" name="Text 7"/>
          <p:cNvSpPr/>
          <p:nvPr/>
        </p:nvSpPr>
        <p:spPr>
          <a:xfrm>
            <a:off x="3121700" y="3630150"/>
            <a:ext cx="1318627" cy="1173454"/>
          </a:xfrm>
          <a:prstGeom prst="rect">
            <a:avLst/>
          </a:prstGeom>
          <a:noFill/>
          <a:ln/>
        </p:spPr>
        <p:txBody>
          <a:bodyPr wrap="square" lIns="0" tIns="0" rIns="0" bIns="0" rtlCol="0" anchor="t">
            <a:normAutofit/>
          </a:bodyPr>
          <a:lstStyle/>
          <a:p>
            <a:pPr marL="0" indent="0" algn="l">
              <a:lnSpc>
                <a:spcPct val="87000"/>
              </a:lnSpc>
              <a:buNone/>
            </a:pPr>
            <a:r>
              <a:rPr lang="en-US" sz="4400" kern="0" spc="-44" dirty="0">
                <a:solidFill>
                  <a:srgbClr val="2B3237"/>
                </a:solidFill>
                <a:latin typeface="IBM Plex Sans Condensed" pitchFamily="34" charset="0"/>
                <a:ea typeface="IBM Plex Sans Condensed" pitchFamily="34" charset="-122"/>
                <a:cs typeface="IBM Plex Sans Condensed" pitchFamily="34" charset="-120"/>
              </a:rPr>
              <a:t>20.63%</a:t>
            </a:r>
            <a:endParaRPr lang="en-US" sz="4400" dirty="0"/>
          </a:p>
        </p:txBody>
      </p:sp>
      <p:sp>
        <p:nvSpPr>
          <p:cNvPr id="10" name="Text 8"/>
          <p:cNvSpPr/>
          <p:nvPr/>
        </p:nvSpPr>
        <p:spPr>
          <a:xfrm>
            <a:off x="3121700" y="5000411"/>
            <a:ext cx="1318627" cy="457123"/>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B3237"/>
                </a:solidFill>
                <a:latin typeface="IBM Plex Sans" pitchFamily="34" charset="0"/>
                <a:ea typeface="IBM Plex Sans" pitchFamily="34" charset="-122"/>
                <a:cs typeface="IBM Plex Sans" pitchFamily="34" charset="-120"/>
              </a:rPr>
              <a:t>Texas share of the top-10 subtotal</a:t>
            </a:r>
            <a:endParaRPr lang="en-US" sz="1200" dirty="0"/>
          </a:p>
        </p:txBody>
      </p:sp>
      <p:sp>
        <p:nvSpPr>
          <p:cNvPr id="11" name="Shape 9"/>
          <p:cNvSpPr/>
          <p:nvPr/>
        </p:nvSpPr>
        <p:spPr>
          <a:xfrm>
            <a:off x="4998991" y="3376173"/>
            <a:ext cx="1826520" cy="2563900"/>
          </a:xfrm>
          <a:prstGeom prst="rect">
            <a:avLst/>
          </a:prstGeom>
          <a:solidFill>
            <a:srgbClr val="E7EAEB"/>
          </a:solidFill>
          <a:ln/>
        </p:spPr>
      </p:sp>
      <p:sp>
        <p:nvSpPr>
          <p:cNvPr id="12" name="Text 10"/>
          <p:cNvSpPr/>
          <p:nvPr/>
        </p:nvSpPr>
        <p:spPr>
          <a:xfrm>
            <a:off x="5252968" y="3630150"/>
            <a:ext cx="1318565" cy="1173454"/>
          </a:xfrm>
          <a:prstGeom prst="rect">
            <a:avLst/>
          </a:prstGeom>
          <a:noFill/>
          <a:ln/>
        </p:spPr>
        <p:txBody>
          <a:bodyPr wrap="square" lIns="0" tIns="0" rIns="0" bIns="0" rtlCol="0" anchor="t">
            <a:normAutofit/>
          </a:bodyPr>
          <a:lstStyle/>
          <a:p>
            <a:pPr marL="0" indent="0" algn="l">
              <a:lnSpc>
                <a:spcPct val="87000"/>
              </a:lnSpc>
              <a:buNone/>
            </a:pPr>
            <a:r>
              <a:rPr lang="en-US" sz="4400" kern="0" spc="-44" dirty="0">
                <a:solidFill>
                  <a:srgbClr val="2B3237"/>
                </a:solidFill>
                <a:latin typeface="IBM Plex Sans Condensed" pitchFamily="34" charset="0"/>
                <a:ea typeface="IBM Plex Sans Condensed" pitchFamily="34" charset="-122"/>
                <a:cs typeface="IBM Plex Sans Condensed" pitchFamily="34" charset="-120"/>
              </a:rPr>
              <a:t>≈10.49%</a:t>
            </a:r>
            <a:endParaRPr lang="en-US" sz="4400" dirty="0"/>
          </a:p>
        </p:txBody>
      </p:sp>
      <p:sp>
        <p:nvSpPr>
          <p:cNvPr id="13" name="Text 11"/>
          <p:cNvSpPr/>
          <p:nvPr/>
        </p:nvSpPr>
        <p:spPr>
          <a:xfrm>
            <a:off x="5252968" y="5000411"/>
            <a:ext cx="1318565" cy="457123"/>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B3237"/>
                </a:solidFill>
                <a:latin typeface="IBM Plex Sans" pitchFamily="34" charset="0"/>
                <a:ea typeface="IBM Plex Sans" pitchFamily="34" charset="-122"/>
                <a:cs typeface="IBM Plex Sans" pitchFamily="34" charset="-120"/>
              </a:rPr>
              <a:t>Texas share of all records</a:t>
            </a:r>
            <a:endParaRPr lang="en-US" sz="1200" dirty="0"/>
          </a:p>
        </p:txBody>
      </p:sp>
      <p:pic>
        <p:nvPicPr>
          <p:cNvPr id="14" name="Image 0" descr="preencoded.png"/>
          <p:cNvPicPr>
            <a:picLocks noChangeAspect="1"/>
          </p:cNvPicPr>
          <p:nvPr/>
        </p:nvPicPr>
        <p:blipFill>
          <a:blip r:embed="rId3"/>
          <a:stretch>
            <a:fillRect/>
          </a:stretch>
        </p:blipFill>
        <p:spPr>
          <a:xfrm>
            <a:off x="736577" y="6092446"/>
            <a:ext cx="2440386" cy="1947879"/>
          </a:xfrm>
          <a:prstGeom prst="rect">
            <a:avLst/>
          </a:prstGeom>
        </p:spPr>
      </p:pic>
      <p:sp>
        <p:nvSpPr>
          <p:cNvPr id="15" name="Text 12"/>
          <p:cNvSpPr/>
          <p:nvPr/>
        </p:nvSpPr>
        <p:spPr>
          <a:xfrm>
            <a:off x="736577" y="8119652"/>
            <a:ext cx="2440386" cy="559957"/>
          </a:xfrm>
          <a:prstGeom prst="rect">
            <a:avLst/>
          </a:prstGeom>
          <a:noFill/>
          <a:ln/>
        </p:spPr>
        <p:txBody>
          <a:bodyPr wrap="square" lIns="0" tIns="0" rIns="0" bIns="0" rtlCol="0" anchor="t">
            <a:normAutofit/>
          </a:bodyPr>
          <a:lstStyle/>
          <a:p>
            <a:pPr marL="0" indent="0" algn="l">
              <a:lnSpc>
                <a:spcPct val="117000"/>
              </a:lnSpc>
              <a:buNone/>
            </a:pPr>
            <a:r>
              <a:rPr lang="en-US" sz="1050" dirty="0">
                <a:solidFill>
                  <a:srgbClr val="66737A"/>
                </a:solidFill>
                <a:latin typeface="IBM Plex Sans" pitchFamily="34" charset="0"/>
                <a:ea typeface="IBM Plex Sans" pitchFamily="34" charset="-122"/>
                <a:cs typeface="IBM Plex Sans" pitchFamily="34" charset="-120"/>
              </a:rPr>
              <a:t>Supplied county ranking figure. Maricopa, Harris, Cook, Miami-Dade, and Dallas are the first five counties.</a:t>
            </a:r>
            <a:endParaRPr lang="en-US" sz="1050" dirty="0"/>
          </a:p>
        </p:txBody>
      </p:sp>
      <p:sp>
        <p:nvSpPr>
          <p:cNvPr id="16" name="Text 13"/>
          <p:cNvSpPr/>
          <p:nvPr/>
        </p:nvSpPr>
        <p:spPr>
          <a:xfrm>
            <a:off x="3634085" y="6092446"/>
            <a:ext cx="3191425" cy="253978"/>
          </a:xfrm>
          <a:prstGeom prst="rect">
            <a:avLst/>
          </a:prstGeom>
          <a:noFill/>
          <a:ln/>
        </p:spPr>
        <p:txBody>
          <a:bodyPr wrap="none" lIns="0" tIns="0" rIns="0" bIns="0" rtlCol="0" anchor="t"/>
          <a:lstStyle/>
          <a:p>
            <a:pPr marL="0" indent="0" algn="l">
              <a:lnSpc>
                <a:spcPct val="104000"/>
              </a:lnSpc>
              <a:buNone/>
            </a:pPr>
            <a:r>
              <a:rPr lang="en-US" sz="1600" b="1" dirty="0">
                <a:solidFill>
                  <a:srgbClr val="2B3237"/>
                </a:solidFill>
                <a:latin typeface="IBM Plex Sans Bold" pitchFamily="34" charset="0"/>
                <a:ea typeface="IBM Plex Sans Bold" pitchFamily="34" charset="-122"/>
                <a:cs typeface="IBM Plex Sans Bold" pitchFamily="34" charset="-120"/>
              </a:rPr>
              <a:t>Make the denominator visible</a:t>
            </a:r>
            <a:endParaRPr lang="en-US" sz="1600" dirty="0"/>
          </a:p>
        </p:txBody>
      </p:sp>
      <p:sp>
        <p:nvSpPr>
          <p:cNvPr id="17" name="Text 14"/>
          <p:cNvSpPr/>
          <p:nvPr/>
        </p:nvSpPr>
        <p:spPr>
          <a:xfrm>
            <a:off x="3634085" y="6489259"/>
            <a:ext cx="3191425" cy="1980804"/>
          </a:xfrm>
          <a:prstGeom prst="rect">
            <a:avLst/>
          </a:prstGeom>
          <a:noFill/>
          <a:ln/>
        </p:spPr>
        <p:txBody>
          <a:bodyPr wrap="square" lIns="0" tIns="0" rIns="0" bIns="0" rtlCol="0" anchor="t">
            <a:normAutofit/>
          </a:bodyPr>
          <a:lstStyle/>
          <a:p>
            <a:pPr marL="243840" indent="-243840" algn="l">
              <a:lnSpc>
                <a:spcPct val="125000"/>
              </a:lnSpc>
              <a:buSzPct val="100000"/>
              <a:buChar char="•"/>
            </a:pPr>
            <a:r>
              <a:rPr lang="en-US" sz="1200" dirty="0">
                <a:solidFill>
                  <a:srgbClr val="2B3237"/>
                </a:solidFill>
                <a:latin typeface="IBM Plex Sans" pitchFamily="34" charset="0"/>
                <a:ea typeface="IBM Plex Sans" pitchFamily="34" charset="-122"/>
                <a:cs typeface="IBM Plex Sans" pitchFamily="34" charset="-120"/>
              </a:rPr>
              <a:t>Label the donut </a:t>
            </a:r>
            <a:r>
              <a:rPr lang="en-US" sz="1200" b="1" dirty="0">
                <a:solidFill>
                  <a:srgbClr val="2B3237"/>
                </a:solidFill>
                <a:latin typeface="IBM Plex Sans Bold" pitchFamily="34" charset="0"/>
                <a:ea typeface="IBM Plex Sans Bold" pitchFamily="34" charset="-122"/>
                <a:cs typeface="IBM Plex Sans Bold" pitchFamily="34" charset="-120"/>
              </a:rPr>
              <a:t>Composition of top 10 states</a:t>
            </a:r>
            <a:r>
              <a:rPr lang="en-US" sz="1200" dirty="0">
                <a:solidFill>
                  <a:srgbClr val="2B3237"/>
                </a:solidFill>
                <a:latin typeface="IBM Plex Sans" pitchFamily="34" charset="0"/>
                <a:ea typeface="IBM Plex Sans" pitchFamily="34" charset="-122"/>
                <a:cs typeface="IBM Plex Sans" pitchFamily="34" charset="-120"/>
              </a:rPr>
              <a:t>.</a:t>
            </a:r>
            <a:endParaRPr lang="en-US" sz="1200" dirty="0"/>
          </a:p>
          <a:p>
            <a:pPr marL="243840" indent="-243840" algn="l">
              <a:lnSpc>
                <a:spcPct val="125000"/>
              </a:lnSpc>
              <a:buSzPct val="100000"/>
              <a:buChar char="•"/>
            </a:pPr>
            <a:r>
              <a:rPr lang="en-US" sz="1200" dirty="0">
                <a:solidFill>
                  <a:srgbClr val="2B3237"/>
                </a:solidFill>
                <a:latin typeface="IBM Plex Sans" pitchFamily="34" charset="0"/>
                <a:ea typeface="IBM Plex Sans" pitchFamily="34" charset="-122"/>
                <a:cs typeface="IBM Plex Sans" pitchFamily="34" charset="-120"/>
              </a:rPr>
              <a:t>Use a ranked bar for all-U.S. share, or expose the full state ranking.</a:t>
            </a:r>
            <a:endParaRPr lang="en-US" sz="1200" dirty="0"/>
          </a:p>
          <a:p>
            <a:pPr marL="243840" indent="-243840" algn="l">
              <a:lnSpc>
                <a:spcPct val="125000"/>
              </a:lnSpc>
              <a:buSzPct val="100000"/>
              <a:buChar char="•"/>
            </a:pPr>
            <a:r>
              <a:rPr lang="en-US" sz="1200" dirty="0">
                <a:solidFill>
                  <a:srgbClr val="2B3237"/>
                </a:solidFill>
                <a:latin typeface="IBM Plex Sans" pitchFamily="34" charset="0"/>
                <a:ea typeface="IBM Plex Sans" pitchFamily="34" charset="-122"/>
                <a:cs typeface="IBM Plex Sans" pitchFamily="34" charset="-120"/>
              </a:rPr>
              <a:t>Keep the 51% message as a separate KPI rather than letting the chart imply it.</a:t>
            </a:r>
            <a:endParaRPr lang="en-US" sz="1200" dirty="0"/>
          </a:p>
          <a:p>
            <a:pPr marL="243840" indent="-243840" algn="l">
              <a:lnSpc>
                <a:spcPct val="125000"/>
              </a:lnSpc>
              <a:buSzPct val="100000"/>
              <a:buChar char="•"/>
            </a:pPr>
            <a:r>
              <a:rPr lang="en-US" sz="1200" dirty="0">
                <a:solidFill>
                  <a:srgbClr val="2B3237"/>
                </a:solidFill>
                <a:latin typeface="IBM Plex Sans" pitchFamily="34" charset="0"/>
                <a:ea typeface="IBM Plex Sans" pitchFamily="34" charset="-122"/>
                <a:cs typeface="IBM Plex Sans" pitchFamily="34" charset="-120"/>
              </a:rPr>
              <a:t>Retain the county ranking, but state that it is a total-emissions view.</a:t>
            </a:r>
            <a:endParaRPr lang="en-US" sz="1200" dirty="0"/>
          </a:p>
        </p:txBody>
      </p:sp>
      <p:sp>
        <p:nvSpPr>
          <p:cNvPr id="18" name="Text 15"/>
          <p:cNvSpPr/>
          <p:nvPr/>
        </p:nvSpPr>
        <p:spPr>
          <a:xfrm>
            <a:off x="3738827" y="10357510"/>
            <a:ext cx="462599" cy="180991"/>
          </a:xfrm>
          <a:prstGeom prst="rect">
            <a:avLst/>
          </a:prstGeom>
          <a:noFill/>
          <a:ln/>
        </p:spPr>
        <p:txBody>
          <a:bodyPr wrap="none" lIns="0" tIns="0" rIns="0" bIns="0" rtlCol="0" anchor="ctr"/>
          <a:lstStyle/>
          <a:p>
            <a:pPr marL="0" indent="0" algn="l">
              <a:lnSpc>
                <a:spcPct val="125000"/>
              </a:lnSpc>
              <a:buNone/>
            </a:pPr>
            <a:r>
              <a:rPr lang="en-US" sz="950" kern="0" spc="95" dirty="0">
                <a:solidFill>
                  <a:srgbClr val="2B3237"/>
                </a:solidFill>
                <a:latin typeface="IBM Plex Sans SemiBold" pitchFamily="34" charset="0"/>
                <a:ea typeface="IBM Plex Sans SemiBold" pitchFamily="34" charset="-122"/>
                <a:cs typeface="IBM Plex Sans SemiBold"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6577" y="736578"/>
            <a:ext cx="6467038" cy="156867"/>
          </a:xfrm>
          <a:prstGeom prst="rect">
            <a:avLst/>
          </a:prstGeom>
          <a:noFill/>
          <a:ln/>
        </p:spPr>
        <p:txBody>
          <a:bodyPr wrap="none" lIns="0" tIns="0" rIns="0" bIns="0" rtlCol="0" anchor="t"/>
          <a:lstStyle/>
          <a:p>
            <a:pPr marL="0" indent="0" algn="l">
              <a:lnSpc>
                <a:spcPct val="108000"/>
              </a:lnSpc>
              <a:buNone/>
            </a:pPr>
            <a:r>
              <a:rPr lang="en-US" sz="950" kern="0" spc="95" dirty="0">
                <a:solidFill>
                  <a:srgbClr val="007480"/>
                </a:solidFill>
                <a:latin typeface="IBM Plex Sans SemiBold" pitchFamily="34" charset="0"/>
                <a:ea typeface="IBM Plex Sans SemiBold" pitchFamily="34" charset="-122"/>
                <a:cs typeface="IBM Plex Sans SemiBold" pitchFamily="34" charset="-120"/>
              </a:rPr>
              <a:t>04 · SQL REVIEW</a:t>
            </a:r>
            <a:endParaRPr lang="en-US" sz="950" dirty="0"/>
          </a:p>
        </p:txBody>
      </p:sp>
      <p:sp>
        <p:nvSpPr>
          <p:cNvPr id="3" name="Text 1"/>
          <p:cNvSpPr/>
          <p:nvPr/>
        </p:nvSpPr>
        <p:spPr>
          <a:xfrm>
            <a:off x="736577" y="972770"/>
            <a:ext cx="6088933" cy="1257272"/>
          </a:xfrm>
          <a:prstGeom prst="rect">
            <a:avLst/>
          </a:prstGeom>
          <a:noFill/>
          <a:ln/>
        </p:spPr>
        <p:txBody>
          <a:bodyPr wrap="square" lIns="0" tIns="0" rIns="0" bIns="0" rtlCol="0" anchor="t">
            <a:normAutofit lnSpcReduction="10000"/>
          </a:bodyPr>
          <a:lstStyle/>
          <a:p>
            <a:pPr marL="0" indent="0" algn="l">
              <a:lnSpc>
                <a:spcPct val="92000"/>
              </a:lnSpc>
              <a:buNone/>
            </a:pPr>
            <a:r>
              <a:rPr lang="en-US" sz="3000" dirty="0">
                <a:solidFill>
                  <a:srgbClr val="20262B"/>
                </a:solidFill>
                <a:latin typeface="IBM Plex Sans Condensed" pitchFamily="34" charset="0"/>
                <a:ea typeface="IBM Plex Sans Condensed" pitchFamily="34" charset="-122"/>
                <a:cs typeface="IBM Plex Sans Condensed" pitchFamily="34" charset="-120"/>
              </a:rPr>
              <a:t>The SQL is readable, but several patterns make the logic brittle or easy to misread</a:t>
            </a:r>
            <a:endParaRPr lang="en-US" sz="3000" dirty="0"/>
          </a:p>
        </p:txBody>
      </p:sp>
      <p:sp>
        <p:nvSpPr>
          <p:cNvPr id="4" name="Text 2"/>
          <p:cNvSpPr/>
          <p:nvPr/>
        </p:nvSpPr>
        <p:spPr>
          <a:xfrm>
            <a:off x="736577" y="2426849"/>
            <a:ext cx="6088933" cy="771533"/>
          </a:xfrm>
          <a:prstGeom prst="rect">
            <a:avLst/>
          </a:prstGeom>
          <a:noFill/>
          <a:ln/>
        </p:spPr>
        <p:txBody>
          <a:bodyPr wrap="square" lIns="0" tIns="0" rIns="0" bIns="0" rtlCol="0" anchor="t">
            <a:normAutofit/>
          </a:bodyPr>
          <a:lstStyle/>
          <a:p>
            <a:pPr marL="0" indent="0" algn="l">
              <a:lnSpc>
                <a:spcPct val="125000"/>
              </a:lnSpc>
              <a:buNone/>
            </a:pPr>
            <a:r>
              <a:rPr lang="en-US" sz="1350" dirty="0">
                <a:solidFill>
                  <a:srgbClr val="2B3237"/>
                </a:solidFill>
                <a:latin typeface="IBM Plex Sans" pitchFamily="34" charset="0"/>
                <a:ea typeface="IBM Plex Sans" pitchFamily="34" charset="-122"/>
                <a:cs typeface="IBM Plex Sans" pitchFamily="34" charset="-120"/>
              </a:rPr>
              <a:t>The reviewed queries are understandable. Their main weakness is that data-model assumptions are repeated inside presentation logic, where they become harder to test and easier to mistake for definitions.</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6577" y="3376173"/>
          <a:ext cx="6088932" cy="4080314"/>
        </p:xfrm>
        <a:graphic>
          <a:graphicData uri="http://schemas.openxmlformats.org/drawingml/2006/table">
            <a:tbl>
              <a:tblPr/>
              <a:tblGrid>
                <a:gridCol w="1339565">
                  <a:extLst>
                    <a:ext uri="{9D8B030D-6E8A-4147-A177-3AD203B41FA5}">
                      <a16:colId xmlns:a16="http://schemas.microsoft.com/office/drawing/2014/main" val="20000"/>
                    </a:ext>
                  </a:extLst>
                </a:gridCol>
                <a:gridCol w="1522233">
                  <a:extLst>
                    <a:ext uri="{9D8B030D-6E8A-4147-A177-3AD203B41FA5}">
                      <a16:colId xmlns:a16="http://schemas.microsoft.com/office/drawing/2014/main" val="20001"/>
                    </a:ext>
                  </a:extLst>
                </a:gridCol>
                <a:gridCol w="1339565">
                  <a:extLst>
                    <a:ext uri="{9D8B030D-6E8A-4147-A177-3AD203B41FA5}">
                      <a16:colId xmlns:a16="http://schemas.microsoft.com/office/drawing/2014/main" val="20002"/>
                    </a:ext>
                  </a:extLst>
                </a:gridCol>
                <a:gridCol w="1887569">
                  <a:extLst>
                    <a:ext uri="{9D8B030D-6E8A-4147-A177-3AD203B41FA5}">
                      <a16:colId xmlns:a16="http://schemas.microsoft.com/office/drawing/2014/main" val="20003"/>
                    </a:ext>
                  </a:extLst>
                </a:gridCol>
              </a:tblGrid>
              <a:tr h="366596">
                <a:tc>
                  <a:txBody>
                    <a:bodyPr/>
                    <a:lstStyle/>
                    <a:p>
                      <a:pPr marL="0" indent="0">
                        <a:buNone/>
                      </a:pPr>
                      <a:r>
                        <a:rPr lang="en-US" sz="950" kern="0" spc="76" dirty="0">
                          <a:solidFill>
                            <a:srgbClr val="FFFEF8"/>
                          </a:solidFill>
                          <a:latin typeface="IBM Plex Sans" pitchFamily="34" charset="0"/>
                          <a:ea typeface="IBM Plex Sans" pitchFamily="34" charset="-122"/>
                          <a:cs typeface="IBM Plex Sans" pitchFamily="34" charset="-120"/>
                        </a:rPr>
                        <a:t>QUERY AREA</a:t>
                      </a:r>
                      <a:endParaRPr lang="en-US" sz="950" dirty="0">
                        <a:latin typeface="IBM Plex Sans" charset="0"/>
                        <a:ea typeface="IBM Plex Sans" charset="0"/>
                        <a:cs typeface="IBM Plex Sans" charset="0"/>
                      </a:endParaRPr>
                    </a:p>
                  </a:txBody>
                  <a:tcPr marL="127000" marR="127000" marT="88900" marB="88900" anchor="ctr">
                    <a:lnL w="12700" cap="flat" cmpd="sng" algn="ctr">
                      <a:solidFill>
                        <a:srgbClr val="20262B"/>
                      </a:solidFill>
                      <a:prstDash val="solid"/>
                      <a:round/>
                      <a:headEnd type="none" w="med" len="med"/>
                      <a:tailEnd type="none" w="med" len="med"/>
                    </a:lnL>
                    <a:lnR w="12700" cap="flat" cmpd="sng" algn="ctr">
                      <a:solidFill>
                        <a:srgbClr val="20262B"/>
                      </a:solidFill>
                      <a:prstDash val="solid"/>
                      <a:round/>
                      <a:headEnd type="none" w="med" len="med"/>
                      <a:tailEnd type="none" w="med" len="med"/>
                    </a:lnR>
                    <a:lnT w="12700" cap="flat" cmpd="sng" algn="ctr">
                      <a:solidFill>
                        <a:srgbClr val="20262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20262B"/>
                    </a:solidFill>
                  </a:tcPr>
                </a:tc>
                <a:tc>
                  <a:txBody>
                    <a:bodyPr/>
                    <a:lstStyle/>
                    <a:p>
                      <a:pPr marL="0" indent="0">
                        <a:buNone/>
                      </a:pPr>
                      <a:r>
                        <a:rPr lang="en-US" sz="950" kern="0" spc="76" dirty="0">
                          <a:solidFill>
                            <a:srgbClr val="FFFEF8"/>
                          </a:solidFill>
                          <a:latin typeface="IBM Plex Sans" pitchFamily="34" charset="0"/>
                          <a:ea typeface="IBM Plex Sans" pitchFamily="34" charset="-122"/>
                          <a:cs typeface="IBM Plex Sans" pitchFamily="34" charset="-120"/>
                        </a:rPr>
                        <a:t>WHAT IT DOES</a:t>
                      </a:r>
                      <a:endParaRPr lang="en-US" sz="950" dirty="0">
                        <a:latin typeface="IBM Plex Sans" charset="0"/>
                        <a:ea typeface="IBM Plex Sans" charset="0"/>
                        <a:cs typeface="IBM Plex Sans" charset="0"/>
                      </a:endParaRPr>
                    </a:p>
                  </a:txBody>
                  <a:tcPr marL="127000" marR="127000" marT="88900" marB="88900" anchor="ctr">
                    <a:lnL w="12700" cap="flat" cmpd="sng" algn="ctr">
                      <a:solidFill>
                        <a:srgbClr val="20262B"/>
                      </a:solidFill>
                      <a:prstDash val="solid"/>
                      <a:round/>
                      <a:headEnd type="none" w="med" len="med"/>
                      <a:tailEnd type="none" w="med" len="med"/>
                    </a:lnL>
                    <a:lnR w="12700" cap="flat" cmpd="sng" algn="ctr">
                      <a:solidFill>
                        <a:srgbClr val="20262B"/>
                      </a:solidFill>
                      <a:prstDash val="solid"/>
                      <a:round/>
                      <a:headEnd type="none" w="med" len="med"/>
                      <a:tailEnd type="none" w="med" len="med"/>
                    </a:lnR>
                    <a:lnT w="12700" cap="flat" cmpd="sng" algn="ctr">
                      <a:solidFill>
                        <a:srgbClr val="20262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20262B"/>
                    </a:solidFill>
                  </a:tcPr>
                </a:tc>
                <a:tc>
                  <a:txBody>
                    <a:bodyPr/>
                    <a:lstStyle/>
                    <a:p>
                      <a:pPr marL="0" indent="0">
                        <a:buNone/>
                      </a:pPr>
                      <a:r>
                        <a:rPr lang="en-US" sz="950" kern="0" spc="76" dirty="0">
                          <a:solidFill>
                            <a:srgbClr val="FFFEF8"/>
                          </a:solidFill>
                          <a:latin typeface="IBM Plex Sans" pitchFamily="34" charset="0"/>
                          <a:ea typeface="IBM Plex Sans" pitchFamily="34" charset="-122"/>
                          <a:cs typeface="IBM Plex Sans" pitchFamily="34" charset="-120"/>
                        </a:rPr>
                        <a:t>MAIN RISK</a:t>
                      </a:r>
                      <a:endParaRPr lang="en-US" sz="950" dirty="0">
                        <a:latin typeface="IBM Plex Sans" charset="0"/>
                        <a:ea typeface="IBM Plex Sans" charset="0"/>
                        <a:cs typeface="IBM Plex Sans" charset="0"/>
                      </a:endParaRPr>
                    </a:p>
                  </a:txBody>
                  <a:tcPr marL="127000" marR="127000" marT="88900" marB="88900" anchor="ctr">
                    <a:lnL w="12700" cap="flat" cmpd="sng" algn="ctr">
                      <a:solidFill>
                        <a:srgbClr val="20262B"/>
                      </a:solidFill>
                      <a:prstDash val="solid"/>
                      <a:round/>
                      <a:headEnd type="none" w="med" len="med"/>
                      <a:tailEnd type="none" w="med" len="med"/>
                    </a:lnL>
                    <a:lnR w="12700" cap="flat" cmpd="sng" algn="ctr">
                      <a:solidFill>
                        <a:srgbClr val="20262B"/>
                      </a:solidFill>
                      <a:prstDash val="solid"/>
                      <a:round/>
                      <a:headEnd type="none" w="med" len="med"/>
                      <a:tailEnd type="none" w="med" len="med"/>
                    </a:lnR>
                    <a:lnT w="12700" cap="flat" cmpd="sng" algn="ctr">
                      <a:solidFill>
                        <a:srgbClr val="20262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20262B"/>
                    </a:solidFill>
                  </a:tcPr>
                </a:tc>
                <a:tc>
                  <a:txBody>
                    <a:bodyPr/>
                    <a:lstStyle/>
                    <a:p>
                      <a:pPr marL="0" indent="0">
                        <a:buNone/>
                      </a:pPr>
                      <a:r>
                        <a:rPr lang="en-US" sz="950" kern="0" spc="76" dirty="0">
                          <a:solidFill>
                            <a:srgbClr val="FFFEF8"/>
                          </a:solidFill>
                          <a:latin typeface="IBM Plex Sans" pitchFamily="34" charset="0"/>
                          <a:ea typeface="IBM Plex Sans" pitchFamily="34" charset="-122"/>
                          <a:cs typeface="IBM Plex Sans" pitchFamily="34" charset="-120"/>
                        </a:rPr>
                        <a:t>RECOMMENDED CHANGE</a:t>
                      </a:r>
                      <a:endParaRPr lang="en-US" sz="950" dirty="0">
                        <a:latin typeface="IBM Plex Sans" charset="0"/>
                        <a:ea typeface="IBM Plex Sans" charset="0"/>
                        <a:cs typeface="IBM Plex Sans" charset="0"/>
                      </a:endParaRPr>
                    </a:p>
                  </a:txBody>
                  <a:tcPr marL="127000" marR="127000" marT="88900" marB="88900" anchor="ctr">
                    <a:lnL w="12700" cap="flat" cmpd="sng" algn="ctr">
                      <a:solidFill>
                        <a:srgbClr val="20262B"/>
                      </a:solidFill>
                      <a:prstDash val="solid"/>
                      <a:round/>
                      <a:headEnd type="none" w="med" len="med"/>
                      <a:tailEnd type="none" w="med" len="med"/>
                    </a:lnL>
                    <a:lnR w="12700" cap="flat" cmpd="sng" algn="ctr">
                      <a:solidFill>
                        <a:srgbClr val="20262B"/>
                      </a:solidFill>
                      <a:prstDash val="solid"/>
                      <a:round/>
                      <a:headEnd type="none" w="med" len="med"/>
                      <a:tailEnd type="none" w="med" len="med"/>
                    </a:lnR>
                    <a:lnT w="12700" cap="flat" cmpd="sng" algn="ctr">
                      <a:solidFill>
                        <a:srgbClr val="20262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20262B"/>
                    </a:solidFill>
                  </a:tcPr>
                </a:tc>
                <a:extLst>
                  <a:ext uri="{0D108BD9-81ED-4DB2-BD59-A6C34878D82A}">
                    <a16:rowId xmlns:a16="http://schemas.microsoft.com/office/drawing/2014/main" val="10000"/>
                  </a:ext>
                </a:extLst>
              </a:tr>
              <a:tr h="1099851">
                <a:tc>
                  <a:txBody>
                    <a:bodyPr/>
                    <a:lstStyle/>
                    <a:p>
                      <a:pPr marL="0" indent="0">
                        <a:buNone/>
                      </a:pPr>
                      <a:r>
                        <a:rPr lang="en-US" sz="1200" b="1" dirty="0">
                          <a:solidFill>
                            <a:srgbClr val="007480"/>
                          </a:solidFill>
                          <a:latin typeface="IBM Plex Sans" pitchFamily="34" charset="0"/>
                          <a:ea typeface="IBM Plex Sans" pitchFamily="34" charset="-122"/>
                          <a:cs typeface="IBM Plex Sans" pitchFamily="34" charset="-120"/>
                        </a:rPr>
                        <a:t>Location map</a:t>
                      </a:r>
                      <a:endParaRPr lang="en-US" sz="1200" dirty="0">
                        <a:latin typeface="IBM Plex Sans" charset="0"/>
                        <a:ea typeface="IBM Plex Sans" charset="0"/>
                        <a:cs typeface="IBM Plex Sans" charset="0"/>
                      </a:endParaRPr>
                    </a:p>
                  </a:txBody>
                  <a:tcPr marL="127000" marR="127000" marT="88900" marB="889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Returns latitude and longitude</a:t>
                      </a:r>
                      <a:endParaRPr lang="en-US" sz="1200" dirty="0">
                        <a:latin typeface="IBM Plex Sans" charset="0"/>
                        <a:ea typeface="IBM Plex Sans" charset="0"/>
                        <a:cs typeface="IBM Plex Sans" charset="0"/>
                      </a:endParaRPr>
                    </a:p>
                  </a:txBody>
                  <a:tcPr marL="127000" marR="127000" marT="88900" marB="889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No emissions measure selected for visual encoding</a:t>
                      </a:r>
                      <a:endParaRPr lang="en-US" sz="1200" dirty="0">
                        <a:latin typeface="IBM Plex Sans" charset="0"/>
                        <a:ea typeface="IBM Plex Sans" charset="0"/>
                        <a:cs typeface="IBM Plex Sans" charset="0"/>
                      </a:endParaRPr>
                    </a:p>
                  </a:txBody>
                  <a:tcPr marL="127000" marR="127000" marT="88900" marB="889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Add GHG measure, or rename to county locations.</a:t>
                      </a:r>
                      <a:endParaRPr lang="en-US" sz="1200" dirty="0">
                        <a:latin typeface="IBM Plex Sans" charset="0"/>
                        <a:ea typeface="IBM Plex Sans" charset="0"/>
                        <a:cs typeface="IBM Plex Sans" charset="0"/>
                      </a:endParaRPr>
                    </a:p>
                  </a:txBody>
                  <a:tcPr marL="127000" marR="127000" marT="88900" marB="889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extLst>
                  <a:ext uri="{0D108BD9-81ED-4DB2-BD59-A6C34878D82A}">
                    <a16:rowId xmlns:a16="http://schemas.microsoft.com/office/drawing/2014/main" val="10001"/>
                  </a:ext>
                </a:extLst>
              </a:tr>
              <a:tr h="871289">
                <a:tc>
                  <a:txBody>
                    <a:bodyPr/>
                    <a:lstStyle/>
                    <a:p>
                      <a:pPr marL="0" indent="0">
                        <a:buNone/>
                      </a:pPr>
                      <a:r>
                        <a:rPr lang="en-US" sz="1200" b="1" dirty="0">
                          <a:solidFill>
                            <a:srgbClr val="007480"/>
                          </a:solidFill>
                          <a:latin typeface="IBM Plex Sans" pitchFamily="34" charset="0"/>
                          <a:ea typeface="IBM Plex Sans" pitchFamily="34" charset="-122"/>
                          <a:cs typeface="IBM Plex Sans" pitchFamily="34" charset="-120"/>
                        </a:rPr>
                        <a:t>Emissions per person</a:t>
                      </a:r>
                      <a:endParaRPr lang="en-US" sz="1200" dirty="0">
                        <a:latin typeface="IBM Plex Sans" charset="0"/>
                        <a:ea typeface="IBM Plex Sans" charset="0"/>
                        <a:cs typeface="IBM Plex Sans" charset="0"/>
                      </a:endParaRPr>
                    </a:p>
                  </a:txBody>
                  <a:tcPr marL="127000" marR="127000" marT="88900" marB="889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Sums GHG and divides by population</a:t>
                      </a:r>
                      <a:endParaRPr lang="en-US" sz="1200" dirty="0">
                        <a:latin typeface="IBM Plex Sans" charset="0"/>
                        <a:ea typeface="IBM Plex Sans" charset="0"/>
                        <a:cs typeface="IBM Plex Sans" charset="0"/>
                      </a:endParaRPr>
                    </a:p>
                  </a:txBody>
                  <a:tcPr marL="127000" marR="127000" marT="88900" marB="889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Stable grain and outliers are not explicit</a:t>
                      </a:r>
                      <a:endParaRPr lang="en-US" sz="1200" dirty="0">
                        <a:latin typeface="IBM Plex Sans" charset="0"/>
                        <a:ea typeface="IBM Plex Sans" charset="0"/>
                        <a:cs typeface="IBM Plex Sans" charset="0"/>
                      </a:endParaRPr>
                    </a:p>
                  </a:txBody>
                  <a:tcPr marL="127000" marR="127000" marT="88900" marB="889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Use county_id, validate population, add distribution views.</a:t>
                      </a:r>
                      <a:endParaRPr lang="en-US" sz="1200" dirty="0">
                        <a:latin typeface="IBM Plex Sans" charset="0"/>
                        <a:ea typeface="IBM Plex Sans" charset="0"/>
                        <a:cs typeface="IBM Plex Sans" charset="0"/>
                      </a:endParaRPr>
                    </a:p>
                  </a:txBody>
                  <a:tcPr marL="127000" marR="127000" marT="88900" marB="889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extLst>
                  <a:ext uri="{0D108BD9-81ED-4DB2-BD59-A6C34878D82A}">
                    <a16:rowId xmlns:a16="http://schemas.microsoft.com/office/drawing/2014/main" val="10002"/>
                  </a:ext>
                </a:extLst>
              </a:tr>
              <a:tr h="871289">
                <a:tc>
                  <a:txBody>
                    <a:bodyPr/>
                    <a:lstStyle/>
                    <a:p>
                      <a:pPr marL="0" indent="0">
                        <a:buNone/>
                      </a:pPr>
                      <a:r>
                        <a:rPr lang="en-US" sz="1200" b="1" dirty="0">
                          <a:solidFill>
                            <a:srgbClr val="007480"/>
                          </a:solidFill>
                          <a:latin typeface="IBM Plex Sans" pitchFamily="34" charset="0"/>
                          <a:ea typeface="IBM Plex Sans" pitchFamily="34" charset="-122"/>
                          <a:cs typeface="IBM Plex Sans" pitchFamily="34" charset="-120"/>
                        </a:rPr>
                        <a:t>State totals</a:t>
                      </a:r>
                      <a:endParaRPr lang="en-US" sz="1200" dirty="0">
                        <a:latin typeface="IBM Plex Sans" charset="0"/>
                        <a:ea typeface="IBM Plex Sans" charset="0"/>
                        <a:cs typeface="IBM Plex Sans" charset="0"/>
                      </a:endParaRPr>
                    </a:p>
                  </a:txBody>
                  <a:tcPr marL="127000" marR="127000" marT="88900" marB="889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Aggregates states and limits to 10</a:t>
                      </a:r>
                      <a:endParaRPr lang="en-US" sz="1200" dirty="0">
                        <a:latin typeface="IBM Plex Sans" charset="0"/>
                        <a:ea typeface="IBM Plex Sans" charset="0"/>
                        <a:cs typeface="IBM Plex Sans" charset="0"/>
                      </a:endParaRPr>
                    </a:p>
                  </a:txBody>
                  <a:tcPr marL="127000" marR="127000" marT="88900" marB="889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Name implies full state coverage</a:t>
                      </a:r>
                      <a:endParaRPr lang="en-US" sz="1200" dirty="0">
                        <a:latin typeface="IBM Plex Sans" charset="0"/>
                        <a:ea typeface="IBM Plex Sans" charset="0"/>
                        <a:cs typeface="IBM Plex Sans" charset="0"/>
                      </a:endParaRPr>
                    </a:p>
                  </a:txBody>
                  <a:tcPr marL="127000" marR="127000" marT="88900" marB="889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Separate full ranking from top-10 view.</a:t>
                      </a:r>
                      <a:endParaRPr lang="en-US" sz="1200" dirty="0">
                        <a:latin typeface="IBM Plex Sans" charset="0"/>
                        <a:ea typeface="IBM Plex Sans" charset="0"/>
                        <a:cs typeface="IBM Plex Sans" charset="0"/>
                      </a:endParaRPr>
                    </a:p>
                  </a:txBody>
                  <a:tcPr marL="127000" marR="127000" marT="88900" marB="889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E7EAEB"/>
                      </a:solidFill>
                      <a:prstDash val="solid"/>
                      <a:round/>
                      <a:headEnd type="none" w="med" len="med"/>
                      <a:tailEnd type="none" w="med" len="med"/>
                    </a:lnB>
                    <a:solidFill>
                      <a:srgbClr val="FFFEF8"/>
                    </a:solidFill>
                  </a:tcPr>
                </a:tc>
                <a:extLst>
                  <a:ext uri="{0D108BD9-81ED-4DB2-BD59-A6C34878D82A}">
                    <a16:rowId xmlns:a16="http://schemas.microsoft.com/office/drawing/2014/main" val="10003"/>
                  </a:ext>
                </a:extLst>
              </a:tr>
              <a:tr h="871289">
                <a:tc>
                  <a:txBody>
                    <a:bodyPr/>
                    <a:lstStyle/>
                    <a:p>
                      <a:pPr marL="0" indent="0">
                        <a:buNone/>
                      </a:pPr>
                      <a:r>
                        <a:rPr lang="en-US" sz="1200" b="1" dirty="0">
                          <a:solidFill>
                            <a:srgbClr val="007480"/>
                          </a:solidFill>
                          <a:latin typeface="IBM Plex Sans" pitchFamily="34" charset="0"/>
                          <a:ea typeface="IBM Plex Sans" pitchFamily="34" charset="-122"/>
                          <a:cs typeface="IBM Plex Sans" pitchFamily="34" charset="-120"/>
                        </a:rPr>
                        <a:t>County totals</a:t>
                      </a:r>
                      <a:endParaRPr lang="en-US" sz="1200" dirty="0">
                        <a:latin typeface="IBM Plex Sans" charset="0"/>
                        <a:ea typeface="IBM Plex Sans" charset="0"/>
                        <a:cs typeface="IBM Plex Sans" charset="0"/>
                      </a:endParaRPr>
                    </a:p>
                  </a:txBody>
                  <a:tcPr marL="127000" marR="127000" marT="88900" marB="889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FFFEF8"/>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Orders counties by GHG and limits to 10</a:t>
                      </a:r>
                      <a:endParaRPr lang="en-US" sz="1200" dirty="0">
                        <a:latin typeface="IBM Plex Sans" charset="0"/>
                        <a:ea typeface="IBM Plex Sans" charset="0"/>
                        <a:cs typeface="IBM Plex Sans" charset="0"/>
                      </a:endParaRPr>
                    </a:p>
                  </a:txBody>
                  <a:tcPr marL="127000" marR="127000" marT="88900" marB="889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FFFEF8"/>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Assumes one row per county</a:t>
                      </a:r>
                      <a:endParaRPr lang="en-US" sz="1200" dirty="0">
                        <a:latin typeface="IBM Plex Sans" charset="0"/>
                        <a:ea typeface="IBM Plex Sans" charset="0"/>
                        <a:cs typeface="IBM Plex Sans" charset="0"/>
                      </a:endParaRPr>
                    </a:p>
                  </a:txBody>
                  <a:tcPr marL="127000" marR="127000" marT="88900" marB="889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FFFEF8"/>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Assert uniqueness and document county grain.</a:t>
                      </a:r>
                      <a:endParaRPr lang="en-US" sz="1200" dirty="0">
                        <a:latin typeface="IBM Plex Sans" charset="0"/>
                        <a:ea typeface="IBM Plex Sans" charset="0"/>
                        <a:cs typeface="IBM Plex Sans" charset="0"/>
                      </a:endParaRPr>
                    </a:p>
                  </a:txBody>
                  <a:tcPr marL="127000" marR="127000" marT="88900" marB="8890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E7EAEB"/>
                      </a:solidFill>
                      <a:prstDash val="solid"/>
                      <a:round/>
                      <a:headEnd type="none" w="med" len="med"/>
                      <a:tailEnd type="none" w="med" len="med"/>
                    </a:lnT>
                    <a:lnB w="12700" cap="flat" cmpd="sng" algn="ctr">
                      <a:solidFill>
                        <a:srgbClr val="FFFEF8"/>
                      </a:solidFill>
                      <a:prstDash val="solid"/>
                      <a:round/>
                      <a:headEnd type="none" w="med" len="med"/>
                      <a:tailEnd type="none" w="med" len="med"/>
                    </a:lnB>
                    <a:solidFill>
                      <a:srgbClr val="FFFEF8"/>
                    </a:solidFill>
                  </a:tcPr>
                </a:tc>
                <a:extLst>
                  <a:ext uri="{0D108BD9-81ED-4DB2-BD59-A6C34878D82A}">
                    <a16:rowId xmlns:a16="http://schemas.microsoft.com/office/drawing/2014/main" val="10004"/>
                  </a:ext>
                </a:extLst>
              </a:tr>
            </a:tbl>
          </a:graphicData>
        </a:graphic>
      </p:graphicFrame>
      <p:sp>
        <p:nvSpPr>
          <p:cNvPr id="5" name="Text 3"/>
          <p:cNvSpPr/>
          <p:nvPr/>
        </p:nvSpPr>
        <p:spPr>
          <a:xfrm>
            <a:off x="736577" y="7634282"/>
            <a:ext cx="6467038" cy="186652"/>
          </a:xfrm>
          <a:prstGeom prst="rect">
            <a:avLst/>
          </a:prstGeom>
          <a:noFill/>
          <a:ln/>
        </p:spPr>
        <p:txBody>
          <a:bodyPr wrap="none" lIns="0" tIns="0" rIns="0" bIns="0" rtlCol="0" anchor="t"/>
          <a:lstStyle/>
          <a:p>
            <a:pPr marL="0" indent="0" algn="l">
              <a:lnSpc>
                <a:spcPct val="117000"/>
              </a:lnSpc>
              <a:buNone/>
            </a:pPr>
            <a:r>
              <a:rPr lang="en-US" sz="1050" dirty="0">
                <a:solidFill>
                  <a:srgbClr val="66737A"/>
                </a:solidFill>
                <a:latin typeface="IBM Plex Sans" pitchFamily="34" charset="0"/>
                <a:ea typeface="IBM Plex Sans" pitchFamily="34" charset="-122"/>
                <a:cs typeface="IBM Plex Sans" pitchFamily="34" charset="-120"/>
              </a:rPr>
              <a:t>Query review · logic translated from the supplied SQL and dashboard definition.</a:t>
            </a:r>
            <a:endParaRPr lang="en-US" sz="1050" dirty="0"/>
          </a:p>
        </p:txBody>
      </p:sp>
      <p:sp>
        <p:nvSpPr>
          <p:cNvPr id="7" name="Shape 4"/>
          <p:cNvSpPr/>
          <p:nvPr/>
        </p:nvSpPr>
        <p:spPr>
          <a:xfrm>
            <a:off x="736577" y="7998724"/>
            <a:ext cx="2892092" cy="1820244"/>
          </a:xfrm>
          <a:prstGeom prst="rect">
            <a:avLst/>
          </a:prstGeom>
          <a:solidFill>
            <a:srgbClr val="E7EAEB"/>
          </a:solidFill>
          <a:ln/>
        </p:spPr>
      </p:sp>
      <p:sp>
        <p:nvSpPr>
          <p:cNvPr id="8" name="Text 5"/>
          <p:cNvSpPr/>
          <p:nvPr/>
        </p:nvSpPr>
        <p:spPr>
          <a:xfrm>
            <a:off x="965139" y="8201870"/>
            <a:ext cx="2663531" cy="156867"/>
          </a:xfrm>
          <a:prstGeom prst="rect">
            <a:avLst/>
          </a:prstGeom>
          <a:noFill/>
          <a:ln/>
        </p:spPr>
        <p:txBody>
          <a:bodyPr wrap="none" lIns="0" tIns="0" rIns="0" bIns="0" rtlCol="0" anchor="t"/>
          <a:lstStyle/>
          <a:p>
            <a:pPr marL="0" indent="0" algn="l">
              <a:lnSpc>
                <a:spcPct val="108000"/>
              </a:lnSpc>
              <a:buNone/>
            </a:pPr>
            <a:r>
              <a:rPr lang="en-US" sz="950" kern="0" spc="95" dirty="0">
                <a:solidFill>
                  <a:srgbClr val="2B3237"/>
                </a:solidFill>
                <a:latin typeface="IBM Plex Sans SemiBold" pitchFamily="34" charset="0"/>
                <a:ea typeface="IBM Plex Sans SemiBold" pitchFamily="34" charset="-122"/>
                <a:cs typeface="IBM Plex Sans SemiBold" pitchFamily="34" charset="-120"/>
              </a:rPr>
              <a:t>REPEATED TEXT CASTING</a:t>
            </a:r>
            <a:endParaRPr lang="en-US" sz="950" dirty="0"/>
          </a:p>
        </p:txBody>
      </p:sp>
      <p:sp>
        <p:nvSpPr>
          <p:cNvPr id="9" name="Text 6"/>
          <p:cNvSpPr/>
          <p:nvPr/>
        </p:nvSpPr>
        <p:spPr>
          <a:xfrm>
            <a:off x="965139" y="8473017"/>
            <a:ext cx="2434970" cy="914245"/>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B3237"/>
                </a:solidFill>
                <a:latin typeface="IBM Plex Sans" pitchFamily="34" charset="0"/>
                <a:ea typeface="IBM Plex Sans" pitchFamily="34" charset="-122"/>
                <a:cs typeface="IBM Plex Sans" pitchFamily="34" charset="-120"/>
              </a:rPr>
              <a:t>Every query performs REPLACE on the GHG field. Create a typed numeric column once upstream instead.</a:t>
            </a:r>
            <a:endParaRPr lang="en-US" sz="1200" dirty="0"/>
          </a:p>
        </p:txBody>
      </p:sp>
      <p:sp>
        <p:nvSpPr>
          <p:cNvPr id="10" name="Shape 7"/>
          <p:cNvSpPr/>
          <p:nvPr/>
        </p:nvSpPr>
        <p:spPr>
          <a:xfrm>
            <a:off x="3933418" y="7998724"/>
            <a:ext cx="2892092" cy="1820244"/>
          </a:xfrm>
          <a:prstGeom prst="rect">
            <a:avLst/>
          </a:prstGeom>
          <a:solidFill>
            <a:srgbClr val="E7EAEB"/>
          </a:solidFill>
          <a:ln/>
        </p:spPr>
      </p:sp>
      <p:sp>
        <p:nvSpPr>
          <p:cNvPr id="11" name="Text 8"/>
          <p:cNvSpPr/>
          <p:nvPr/>
        </p:nvSpPr>
        <p:spPr>
          <a:xfrm>
            <a:off x="4161979" y="8201870"/>
            <a:ext cx="2663531" cy="156867"/>
          </a:xfrm>
          <a:prstGeom prst="rect">
            <a:avLst/>
          </a:prstGeom>
          <a:noFill/>
          <a:ln/>
        </p:spPr>
        <p:txBody>
          <a:bodyPr wrap="none" lIns="0" tIns="0" rIns="0" bIns="0" rtlCol="0" anchor="t"/>
          <a:lstStyle/>
          <a:p>
            <a:pPr marL="0" indent="0" algn="l">
              <a:lnSpc>
                <a:spcPct val="108000"/>
              </a:lnSpc>
              <a:buNone/>
            </a:pPr>
            <a:r>
              <a:rPr lang="en-US" sz="950" kern="0" spc="95" dirty="0">
                <a:solidFill>
                  <a:srgbClr val="2B3237"/>
                </a:solidFill>
                <a:latin typeface="IBM Plex Sans SemiBold" pitchFamily="34" charset="0"/>
                <a:ea typeface="IBM Plex Sans SemiBold" pitchFamily="34" charset="-122"/>
                <a:cs typeface="IBM Plex Sans SemiBold" pitchFamily="34" charset="-120"/>
              </a:rPr>
              <a:t>POPULATION INFERENCE</a:t>
            </a:r>
            <a:endParaRPr lang="en-US" sz="950" dirty="0"/>
          </a:p>
        </p:txBody>
      </p:sp>
      <p:sp>
        <p:nvSpPr>
          <p:cNvPr id="12" name="Text 9"/>
          <p:cNvSpPr/>
          <p:nvPr/>
        </p:nvSpPr>
        <p:spPr>
          <a:xfrm>
            <a:off x="4161979" y="8473017"/>
            <a:ext cx="2434970" cy="1142807"/>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B3237"/>
                </a:solidFill>
                <a:latin typeface="IBM Plex Sans" pitchFamily="34" charset="0"/>
                <a:ea typeface="IBM Plex Sans" pitchFamily="34" charset="-122"/>
                <a:cs typeface="IBM Plex Sans" pitchFamily="34" charset="-120"/>
              </a:rPr>
              <a:t>A per-person outlier ranking is not evidence of a population trend. Add a trendline, correlation or rank statistic, and a clear annual definition.</a:t>
            </a:r>
            <a:endParaRPr lang="en-US" sz="1200" dirty="0"/>
          </a:p>
        </p:txBody>
      </p:sp>
      <p:sp>
        <p:nvSpPr>
          <p:cNvPr id="13" name="Text 10"/>
          <p:cNvSpPr/>
          <p:nvPr/>
        </p:nvSpPr>
        <p:spPr>
          <a:xfrm>
            <a:off x="3738827" y="10357510"/>
            <a:ext cx="462599" cy="180991"/>
          </a:xfrm>
          <a:prstGeom prst="rect">
            <a:avLst/>
          </a:prstGeom>
          <a:noFill/>
          <a:ln/>
        </p:spPr>
        <p:txBody>
          <a:bodyPr wrap="none" lIns="0" tIns="0" rIns="0" bIns="0" rtlCol="0" anchor="ctr"/>
          <a:lstStyle/>
          <a:p>
            <a:pPr marL="0" indent="0" algn="l">
              <a:lnSpc>
                <a:spcPct val="125000"/>
              </a:lnSpc>
              <a:buNone/>
            </a:pPr>
            <a:r>
              <a:rPr lang="en-US" sz="950" kern="0" spc="95" dirty="0">
                <a:solidFill>
                  <a:srgbClr val="2B3237"/>
                </a:solidFill>
                <a:latin typeface="IBM Plex Sans SemiBold" pitchFamily="34" charset="0"/>
                <a:ea typeface="IBM Plex Sans SemiBold" pitchFamily="34" charset="-122"/>
                <a:cs typeface="IBM Plex Sans SemiBold"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6577" y="736578"/>
            <a:ext cx="6467038" cy="156867"/>
          </a:xfrm>
          <a:prstGeom prst="rect">
            <a:avLst/>
          </a:prstGeom>
          <a:noFill/>
          <a:ln/>
        </p:spPr>
        <p:txBody>
          <a:bodyPr wrap="none" lIns="0" tIns="0" rIns="0" bIns="0" rtlCol="0" anchor="t"/>
          <a:lstStyle/>
          <a:p>
            <a:pPr marL="0" indent="0" algn="l">
              <a:lnSpc>
                <a:spcPct val="108000"/>
              </a:lnSpc>
              <a:buNone/>
            </a:pPr>
            <a:r>
              <a:rPr lang="en-US" sz="950" kern="0" spc="95" dirty="0">
                <a:solidFill>
                  <a:srgbClr val="20262B"/>
                </a:solidFill>
                <a:latin typeface="IBM Plex Sans SemiBold" pitchFamily="34" charset="0"/>
                <a:ea typeface="IBM Plex Sans SemiBold" pitchFamily="34" charset="-122"/>
                <a:cs typeface="IBM Plex Sans SemiBold" pitchFamily="34" charset="-120"/>
              </a:rPr>
              <a:t>05 · VISUAL PRECISION</a:t>
            </a:r>
            <a:endParaRPr lang="en-US" sz="950" dirty="0"/>
          </a:p>
        </p:txBody>
      </p:sp>
      <p:sp>
        <p:nvSpPr>
          <p:cNvPr id="3" name="Text 1"/>
          <p:cNvSpPr/>
          <p:nvPr/>
        </p:nvSpPr>
        <p:spPr>
          <a:xfrm>
            <a:off x="736577" y="972770"/>
            <a:ext cx="6088933" cy="1257272"/>
          </a:xfrm>
          <a:prstGeom prst="rect">
            <a:avLst/>
          </a:prstGeom>
          <a:noFill/>
          <a:ln/>
        </p:spPr>
        <p:txBody>
          <a:bodyPr wrap="square" lIns="0" tIns="0" rIns="0" bIns="0" rtlCol="0" anchor="t">
            <a:normAutofit lnSpcReduction="10000"/>
          </a:bodyPr>
          <a:lstStyle/>
          <a:p>
            <a:pPr marL="0" indent="0" algn="l">
              <a:lnSpc>
                <a:spcPct val="92000"/>
              </a:lnSpc>
              <a:buNone/>
            </a:pPr>
            <a:r>
              <a:rPr lang="en-US" sz="3000" dirty="0">
                <a:solidFill>
                  <a:srgbClr val="20262B"/>
                </a:solidFill>
                <a:latin typeface="IBM Plex Sans Condensed" pitchFamily="34" charset="0"/>
                <a:ea typeface="IBM Plex Sans Condensed" pitchFamily="34" charset="-122"/>
                <a:cs typeface="IBM Plex Sans Condensed" pitchFamily="34" charset="-120"/>
              </a:rPr>
              <a:t>The visualizations communicate patterns, but three design choices weaken analytical precision</a:t>
            </a:r>
            <a:endParaRPr lang="en-US" sz="3000" dirty="0"/>
          </a:p>
        </p:txBody>
      </p:sp>
      <p:sp>
        <p:nvSpPr>
          <p:cNvPr id="4" name="Text 2"/>
          <p:cNvSpPr/>
          <p:nvPr/>
        </p:nvSpPr>
        <p:spPr>
          <a:xfrm>
            <a:off x="736577" y="2426849"/>
            <a:ext cx="6088933" cy="1028711"/>
          </a:xfrm>
          <a:prstGeom prst="rect">
            <a:avLst/>
          </a:prstGeom>
          <a:noFill/>
          <a:ln/>
        </p:spPr>
        <p:txBody>
          <a:bodyPr wrap="square" lIns="0" tIns="0" rIns="0" bIns="0" rtlCol="0" anchor="t">
            <a:normAutofit/>
          </a:bodyPr>
          <a:lstStyle/>
          <a:p>
            <a:pPr marL="0" indent="0" algn="l">
              <a:lnSpc>
                <a:spcPct val="125000"/>
              </a:lnSpc>
              <a:buNone/>
            </a:pPr>
            <a:r>
              <a:rPr lang="en-US" sz="1350" dirty="0">
                <a:solidFill>
                  <a:srgbClr val="2B3237"/>
                </a:solidFill>
                <a:latin typeface="IBM Plex Sans" pitchFamily="34" charset="0"/>
                <a:ea typeface="IBM Plex Sans" pitchFamily="34" charset="-122"/>
                <a:cs typeface="IBM Plex Sans" pitchFamily="34" charset="-120"/>
              </a:rPr>
              <a:t>The dashboard's dark cyan and amber language is distinctive, but the visual system needs stronger contracts between title, query, encoding, and unit. The supplied scatter makes the issue visible: a large point cloud can suggest a story before the reader sees the statistic.</a:t>
            </a:r>
            <a:endParaRPr lang="en-US" sz="1350" dirty="0"/>
          </a:p>
        </p:txBody>
      </p:sp>
      <p:pic>
        <p:nvPicPr>
          <p:cNvPr id="5" name="Image 0" descr="preencoded.png"/>
          <p:cNvPicPr>
            <a:picLocks noChangeAspect="1"/>
          </p:cNvPicPr>
          <p:nvPr/>
        </p:nvPicPr>
        <p:blipFill>
          <a:blip r:embed="rId3"/>
          <a:stretch>
            <a:fillRect/>
          </a:stretch>
        </p:blipFill>
        <p:spPr>
          <a:xfrm>
            <a:off x="736577" y="3633350"/>
            <a:ext cx="2688948" cy="2146224"/>
          </a:xfrm>
          <a:prstGeom prst="rect">
            <a:avLst/>
          </a:prstGeom>
        </p:spPr>
      </p:pic>
      <p:pic>
        <p:nvPicPr>
          <p:cNvPr id="6" name="Image 1" descr="preencoded.png"/>
          <p:cNvPicPr>
            <a:picLocks noChangeAspect="1"/>
          </p:cNvPicPr>
          <p:nvPr/>
        </p:nvPicPr>
        <p:blipFill>
          <a:blip r:embed="rId4"/>
          <a:stretch>
            <a:fillRect/>
          </a:stretch>
        </p:blipFill>
        <p:spPr>
          <a:xfrm>
            <a:off x="736577" y="5893855"/>
            <a:ext cx="1463739" cy="1168285"/>
          </a:xfrm>
          <a:prstGeom prst="rect">
            <a:avLst/>
          </a:prstGeom>
        </p:spPr>
      </p:pic>
      <p:sp>
        <p:nvSpPr>
          <p:cNvPr id="7" name="Text 3"/>
          <p:cNvSpPr/>
          <p:nvPr/>
        </p:nvSpPr>
        <p:spPr>
          <a:xfrm>
            <a:off x="736577" y="7141466"/>
            <a:ext cx="2688948" cy="746609"/>
          </a:xfrm>
          <a:prstGeom prst="rect">
            <a:avLst/>
          </a:prstGeom>
          <a:noFill/>
          <a:ln/>
        </p:spPr>
        <p:txBody>
          <a:bodyPr wrap="square" lIns="0" tIns="0" rIns="0" bIns="0" rtlCol="0" anchor="t">
            <a:normAutofit/>
          </a:bodyPr>
          <a:lstStyle/>
          <a:p>
            <a:pPr marL="0" indent="0" algn="l">
              <a:lnSpc>
                <a:spcPct val="117000"/>
              </a:lnSpc>
              <a:buNone/>
            </a:pPr>
            <a:r>
              <a:rPr lang="en-US" sz="1050" dirty="0">
                <a:solidFill>
                  <a:srgbClr val="66737A"/>
                </a:solidFill>
                <a:latin typeface="IBM Plex Sans" pitchFamily="34" charset="0"/>
                <a:ea typeface="IBM Plex Sans" pitchFamily="34" charset="-122"/>
                <a:cs typeface="IBM Plex Sans" pitchFamily="34" charset="-120"/>
              </a:rPr>
              <a:t>Supplied scatter and location-map evidence. Pearson correlation is approximately −0.22; the map query still encodes locations rather than emissions magnitude.</a:t>
            </a:r>
            <a:endParaRPr lang="en-US" sz="1050" dirty="0"/>
          </a:p>
        </p:txBody>
      </p:sp>
      <p:sp>
        <p:nvSpPr>
          <p:cNvPr id="8" name="Shape 4"/>
          <p:cNvSpPr/>
          <p:nvPr/>
        </p:nvSpPr>
        <p:spPr>
          <a:xfrm>
            <a:off x="4009605" y="3633350"/>
            <a:ext cx="2815905" cy="23632"/>
          </a:xfrm>
          <a:prstGeom prst="rect">
            <a:avLst/>
          </a:prstGeom>
          <a:solidFill>
            <a:srgbClr val="00C2D9"/>
          </a:solidFill>
          <a:ln/>
        </p:spPr>
      </p:sp>
      <p:sp>
        <p:nvSpPr>
          <p:cNvPr id="9" name="Text 5"/>
          <p:cNvSpPr/>
          <p:nvPr/>
        </p:nvSpPr>
        <p:spPr>
          <a:xfrm>
            <a:off x="4009605" y="3783940"/>
            <a:ext cx="2815905" cy="253978"/>
          </a:xfrm>
          <a:prstGeom prst="rect">
            <a:avLst/>
          </a:prstGeom>
          <a:noFill/>
          <a:ln/>
        </p:spPr>
        <p:txBody>
          <a:bodyPr wrap="none" lIns="0" tIns="0" rIns="0" bIns="0" rtlCol="0" anchor="t"/>
          <a:lstStyle/>
          <a:p>
            <a:pPr marL="0" indent="0" algn="l">
              <a:lnSpc>
                <a:spcPct val="104000"/>
              </a:lnSpc>
              <a:buNone/>
            </a:pPr>
            <a:r>
              <a:rPr lang="en-US" sz="1600" b="1" dirty="0">
                <a:solidFill>
                  <a:srgbClr val="2B3237"/>
                </a:solidFill>
                <a:latin typeface="IBM Plex Sans Bold" pitchFamily="34" charset="0"/>
                <a:ea typeface="IBM Plex Sans Bold" pitchFamily="34" charset="-122"/>
                <a:cs typeface="IBM Plex Sans Bold" pitchFamily="34" charset="-120"/>
              </a:rPr>
              <a:t>1 · Map encoding</a:t>
            </a:r>
            <a:endParaRPr lang="en-US" sz="1600" dirty="0"/>
          </a:p>
        </p:txBody>
      </p:sp>
      <p:sp>
        <p:nvSpPr>
          <p:cNvPr id="10" name="Text 6"/>
          <p:cNvSpPr/>
          <p:nvPr/>
        </p:nvSpPr>
        <p:spPr>
          <a:xfrm>
            <a:off x="4009605" y="4180753"/>
            <a:ext cx="2815905" cy="914245"/>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B3237"/>
                </a:solidFill>
                <a:latin typeface="IBM Plex Sans" pitchFamily="34" charset="0"/>
                <a:ea typeface="IBM Plex Sans" pitchFamily="34" charset="-122"/>
                <a:cs typeface="IBM Plex Sans" pitchFamily="34" charset="-120"/>
              </a:rPr>
              <a:t>The title says emissions, but the query selects only latitude and longitude and mark size is fixed. It communicates locations, not magnitude.</a:t>
            </a:r>
            <a:endParaRPr lang="en-US" sz="1200" dirty="0"/>
          </a:p>
        </p:txBody>
      </p:sp>
      <p:sp>
        <p:nvSpPr>
          <p:cNvPr id="11" name="Shape 7"/>
          <p:cNvSpPr/>
          <p:nvPr/>
        </p:nvSpPr>
        <p:spPr>
          <a:xfrm>
            <a:off x="4009605" y="5247372"/>
            <a:ext cx="2815905" cy="23632"/>
          </a:xfrm>
          <a:prstGeom prst="rect">
            <a:avLst/>
          </a:prstGeom>
          <a:solidFill>
            <a:srgbClr val="F2A900"/>
          </a:solidFill>
          <a:ln/>
        </p:spPr>
      </p:sp>
      <p:sp>
        <p:nvSpPr>
          <p:cNvPr id="12" name="Text 8"/>
          <p:cNvSpPr/>
          <p:nvPr/>
        </p:nvSpPr>
        <p:spPr>
          <a:xfrm>
            <a:off x="4009605" y="5397962"/>
            <a:ext cx="2815905" cy="253978"/>
          </a:xfrm>
          <a:prstGeom prst="rect">
            <a:avLst/>
          </a:prstGeom>
          <a:noFill/>
          <a:ln/>
        </p:spPr>
        <p:txBody>
          <a:bodyPr wrap="none" lIns="0" tIns="0" rIns="0" bIns="0" rtlCol="0" anchor="t"/>
          <a:lstStyle/>
          <a:p>
            <a:pPr marL="0" indent="0" algn="l">
              <a:lnSpc>
                <a:spcPct val="104000"/>
              </a:lnSpc>
              <a:buNone/>
            </a:pPr>
            <a:r>
              <a:rPr lang="en-US" sz="1600" b="1" dirty="0">
                <a:solidFill>
                  <a:srgbClr val="2B3237"/>
                </a:solidFill>
                <a:latin typeface="IBM Plex Sans Bold" pitchFamily="34" charset="0"/>
                <a:ea typeface="IBM Plex Sans Bold" pitchFamily="34" charset="-122"/>
                <a:cs typeface="IBM Plex Sans Bold" pitchFamily="34" charset="-120"/>
              </a:rPr>
              <a:t>2 · Scatter scale</a:t>
            </a:r>
            <a:endParaRPr lang="en-US" sz="1600" dirty="0"/>
          </a:p>
        </p:txBody>
      </p:sp>
      <p:sp>
        <p:nvSpPr>
          <p:cNvPr id="13" name="Text 9"/>
          <p:cNvSpPr/>
          <p:nvPr/>
        </p:nvSpPr>
        <p:spPr>
          <a:xfrm>
            <a:off x="4009605" y="5794775"/>
            <a:ext cx="2815905" cy="914245"/>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B3237"/>
                </a:solidFill>
                <a:latin typeface="IBM Plex Sans" pitchFamily="34" charset="0"/>
                <a:ea typeface="IBM Plex Sans" pitchFamily="34" charset="-122"/>
                <a:cs typeface="IBM Plex Sans" pitchFamily="34" charset="-120"/>
              </a:rPr>
              <a:t>3,141 points compress near the baseline. Log scales, a trendline, and highlighted outliers would make the relationship testable.</a:t>
            </a:r>
            <a:endParaRPr lang="en-US" sz="1200" dirty="0"/>
          </a:p>
        </p:txBody>
      </p:sp>
      <p:sp>
        <p:nvSpPr>
          <p:cNvPr id="14" name="Shape 10"/>
          <p:cNvSpPr/>
          <p:nvPr/>
        </p:nvSpPr>
        <p:spPr>
          <a:xfrm>
            <a:off x="4009605" y="6861395"/>
            <a:ext cx="2815905" cy="23632"/>
          </a:xfrm>
          <a:prstGeom prst="rect">
            <a:avLst/>
          </a:prstGeom>
          <a:solidFill>
            <a:srgbClr val="F2A900"/>
          </a:solidFill>
          <a:ln/>
        </p:spPr>
      </p:sp>
      <p:sp>
        <p:nvSpPr>
          <p:cNvPr id="15" name="Text 11"/>
          <p:cNvSpPr/>
          <p:nvPr/>
        </p:nvSpPr>
        <p:spPr>
          <a:xfrm>
            <a:off x="4009605" y="7011984"/>
            <a:ext cx="2815905" cy="253978"/>
          </a:xfrm>
          <a:prstGeom prst="rect">
            <a:avLst/>
          </a:prstGeom>
          <a:noFill/>
          <a:ln/>
        </p:spPr>
        <p:txBody>
          <a:bodyPr wrap="none" lIns="0" tIns="0" rIns="0" bIns="0" rtlCol="0" anchor="t"/>
          <a:lstStyle/>
          <a:p>
            <a:pPr marL="0" indent="0" algn="l">
              <a:lnSpc>
                <a:spcPct val="104000"/>
              </a:lnSpc>
              <a:buNone/>
            </a:pPr>
            <a:r>
              <a:rPr lang="en-US" sz="1600" b="1" dirty="0">
                <a:solidFill>
                  <a:srgbClr val="2B3237"/>
                </a:solidFill>
                <a:latin typeface="IBM Plex Sans Bold" pitchFamily="34" charset="0"/>
                <a:ea typeface="IBM Plex Sans Bold" pitchFamily="34" charset="-122"/>
                <a:cs typeface="IBM Plex Sans Bold" pitchFamily="34" charset="-120"/>
              </a:rPr>
              <a:t>3 · Label contract</a:t>
            </a:r>
            <a:endParaRPr lang="en-US" sz="1600" dirty="0"/>
          </a:p>
        </p:txBody>
      </p:sp>
      <p:sp>
        <p:nvSpPr>
          <p:cNvPr id="16" name="Text 12"/>
          <p:cNvSpPr/>
          <p:nvPr/>
        </p:nvSpPr>
        <p:spPr>
          <a:xfrm>
            <a:off x="4009605" y="7408797"/>
            <a:ext cx="2815905" cy="685684"/>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B3237"/>
                </a:solidFill>
                <a:latin typeface="IBM Plex Sans" pitchFamily="34" charset="0"/>
                <a:ea typeface="IBM Plex Sans" pitchFamily="34" charset="-122"/>
                <a:cs typeface="IBM Plex Sans" pitchFamily="34" charset="-120"/>
              </a:rPr>
              <a:t>Titles should state denominator, unit, year, and whether values are totals, shares, or per-person metrics.</a:t>
            </a:r>
            <a:endParaRPr lang="en-US" sz="1200" dirty="0"/>
          </a:p>
        </p:txBody>
      </p:sp>
      <p:sp>
        <p:nvSpPr>
          <p:cNvPr id="17" name="Text 13"/>
          <p:cNvSpPr/>
          <p:nvPr/>
        </p:nvSpPr>
        <p:spPr>
          <a:xfrm>
            <a:off x="3738827" y="10357510"/>
            <a:ext cx="462599" cy="180991"/>
          </a:xfrm>
          <a:prstGeom prst="rect">
            <a:avLst/>
          </a:prstGeom>
          <a:noFill/>
          <a:ln/>
        </p:spPr>
        <p:txBody>
          <a:bodyPr wrap="none" lIns="0" tIns="0" rIns="0" bIns="0" rtlCol="0" anchor="ctr"/>
          <a:lstStyle/>
          <a:p>
            <a:pPr marL="0" indent="0" algn="l">
              <a:lnSpc>
                <a:spcPct val="125000"/>
              </a:lnSpc>
              <a:buNone/>
            </a:pPr>
            <a:r>
              <a:rPr lang="en-US" sz="950" kern="0" spc="95" dirty="0">
                <a:solidFill>
                  <a:srgbClr val="2B3237"/>
                </a:solidFill>
                <a:latin typeface="IBM Plex Sans SemiBold" pitchFamily="34" charset="0"/>
                <a:ea typeface="IBM Plex Sans SemiBold" pitchFamily="34" charset="-122"/>
                <a:cs typeface="IBM Plex Sans SemiBold"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6577" y="736578"/>
            <a:ext cx="6467038" cy="186652"/>
          </a:xfrm>
          <a:prstGeom prst="rect">
            <a:avLst/>
          </a:prstGeom>
          <a:noFill/>
          <a:ln/>
        </p:spPr>
        <p:txBody>
          <a:bodyPr wrap="none" lIns="0" tIns="0" rIns="0" bIns="0" rtlCol="0" anchor="t"/>
          <a:lstStyle/>
          <a:p>
            <a:pPr marL="0" indent="0" algn="l">
              <a:lnSpc>
                <a:spcPct val="117000"/>
              </a:lnSpc>
              <a:buNone/>
            </a:pPr>
            <a:r>
              <a:rPr lang="en-US" sz="1050" dirty="0">
                <a:solidFill>
                  <a:srgbClr val="66737A"/>
                </a:solidFill>
                <a:latin typeface="IBM Plex Sans" pitchFamily="34" charset="0"/>
                <a:ea typeface="IBM Plex Sans" pitchFamily="34" charset="-122"/>
                <a:cs typeface="IBM Plex Sans" pitchFamily="34" charset="-120"/>
              </a:rPr>
              <a:t>06 · PROBLEM STATEMENTS</a:t>
            </a:r>
            <a:endParaRPr lang="en-US" sz="1050" dirty="0"/>
          </a:p>
        </p:txBody>
      </p:sp>
      <p:sp>
        <p:nvSpPr>
          <p:cNvPr id="3" name="Text 1"/>
          <p:cNvSpPr/>
          <p:nvPr/>
        </p:nvSpPr>
        <p:spPr>
          <a:xfrm>
            <a:off x="736577" y="1259734"/>
            <a:ext cx="6088933" cy="838181"/>
          </a:xfrm>
          <a:prstGeom prst="rect">
            <a:avLst/>
          </a:prstGeom>
          <a:noFill/>
          <a:ln/>
        </p:spPr>
        <p:txBody>
          <a:bodyPr wrap="square" lIns="0" tIns="0" rIns="0" bIns="0" rtlCol="0" anchor="t">
            <a:normAutofit lnSpcReduction="10000"/>
          </a:bodyPr>
          <a:lstStyle/>
          <a:p>
            <a:pPr marL="0" indent="0" algn="l">
              <a:lnSpc>
                <a:spcPct val="92000"/>
              </a:lnSpc>
              <a:buNone/>
            </a:pPr>
            <a:r>
              <a:rPr lang="en-US" sz="3000" dirty="0">
                <a:solidFill>
                  <a:srgbClr val="20262B"/>
                </a:solidFill>
                <a:latin typeface="IBM Plex Sans Condensed" pitchFamily="34" charset="0"/>
                <a:ea typeface="IBM Plex Sans Condensed" pitchFamily="34" charset="-122"/>
                <a:cs typeface="IBM Plex Sans Condensed" pitchFamily="34" charset="-120"/>
              </a:rPr>
              <a:t>Problem statements to resolve before this becomes a decision system</a:t>
            </a:r>
            <a:endParaRPr lang="en-US" sz="3000" dirty="0"/>
          </a:p>
        </p:txBody>
      </p:sp>
      <p:sp>
        <p:nvSpPr>
          <p:cNvPr id="4" name="Text 2"/>
          <p:cNvSpPr/>
          <p:nvPr/>
        </p:nvSpPr>
        <p:spPr>
          <a:xfrm>
            <a:off x="736577" y="2294722"/>
            <a:ext cx="6088933" cy="771533"/>
          </a:xfrm>
          <a:prstGeom prst="rect">
            <a:avLst/>
          </a:prstGeom>
          <a:noFill/>
          <a:ln/>
        </p:spPr>
        <p:txBody>
          <a:bodyPr wrap="square" lIns="0" tIns="0" rIns="0" bIns="0" rtlCol="0" anchor="t">
            <a:normAutofit/>
          </a:bodyPr>
          <a:lstStyle/>
          <a:p>
            <a:pPr marL="0" indent="0" algn="l">
              <a:lnSpc>
                <a:spcPct val="125000"/>
              </a:lnSpc>
              <a:buNone/>
            </a:pPr>
            <a:r>
              <a:rPr lang="en-US" sz="1350" dirty="0">
                <a:solidFill>
                  <a:srgbClr val="2B3237"/>
                </a:solidFill>
                <a:latin typeface="IBM Plex Sans" pitchFamily="34" charset="0"/>
                <a:ea typeface="IBM Plex Sans" pitchFamily="34" charset="-122"/>
                <a:cs typeface="IBM Plex Sans" pitchFamily="34" charset="-120"/>
              </a:rPr>
              <a:t>These are not claims that the underlying emissions estimates are wrong. They identify where the current analytical contract is too implicit for operational or executive use.</a:t>
            </a:r>
            <a:endParaRPr lang="en-US" sz="1350" dirty="0"/>
          </a:p>
        </p:txBody>
      </p:sp>
      <p:sp>
        <p:nvSpPr>
          <p:cNvPr id="5" name="Shape 3"/>
          <p:cNvSpPr/>
          <p:nvPr/>
        </p:nvSpPr>
        <p:spPr>
          <a:xfrm>
            <a:off x="736577" y="3257830"/>
            <a:ext cx="266655" cy="266655"/>
          </a:xfrm>
          <a:prstGeom prst="ellipse">
            <a:avLst/>
          </a:prstGeom>
          <a:solidFill>
            <a:srgbClr val="00C2D9"/>
          </a:solidFill>
          <a:ln w="7877">
            <a:solidFill>
              <a:srgbClr val="D9D7CC"/>
            </a:solidFill>
            <a:prstDash val="solid"/>
          </a:ln>
        </p:spPr>
      </p:sp>
      <p:sp>
        <p:nvSpPr>
          <p:cNvPr id="6" name="Text 4"/>
          <p:cNvSpPr/>
          <p:nvPr/>
        </p:nvSpPr>
        <p:spPr>
          <a:xfrm>
            <a:off x="824149" y="3314940"/>
            <a:ext cx="469553" cy="152374"/>
          </a:xfrm>
          <a:prstGeom prst="rect">
            <a:avLst/>
          </a:prstGeom>
          <a:noFill/>
          <a:ln/>
        </p:spPr>
        <p:txBody>
          <a:bodyPr wrap="none" lIns="0" tIns="0" rIns="0" bIns="0" rtlCol="0" anchor="t"/>
          <a:lstStyle/>
          <a:p>
            <a:pPr marL="0" indent="0" algn="l">
              <a:lnSpc>
                <a:spcPct val="83000"/>
              </a:lnSpc>
              <a:buNone/>
            </a:pPr>
            <a:r>
              <a:rPr lang="en-US" sz="1200" dirty="0">
                <a:solidFill>
                  <a:srgbClr val="000000"/>
                </a:solidFill>
                <a:latin typeface="IBM Plex Sans SemiBold" pitchFamily="34" charset="0"/>
                <a:ea typeface="IBM Plex Sans SemiBold" pitchFamily="34" charset="-122"/>
                <a:cs typeface="IBM Plex Sans SemiBold" pitchFamily="34" charset="-120"/>
              </a:rPr>
              <a:t>1</a:t>
            </a:r>
            <a:endParaRPr lang="en-US" sz="1200" dirty="0"/>
          </a:p>
        </p:txBody>
      </p:sp>
      <p:sp>
        <p:nvSpPr>
          <p:cNvPr id="7" name="Text 5"/>
          <p:cNvSpPr/>
          <p:nvPr/>
        </p:nvSpPr>
        <p:spPr>
          <a:xfrm>
            <a:off x="1181022" y="3244045"/>
            <a:ext cx="5644488" cy="253978"/>
          </a:xfrm>
          <a:prstGeom prst="rect">
            <a:avLst/>
          </a:prstGeom>
          <a:noFill/>
          <a:ln/>
        </p:spPr>
        <p:txBody>
          <a:bodyPr wrap="none" lIns="0" tIns="0" rIns="0" bIns="0" rtlCol="0" anchor="t"/>
          <a:lstStyle/>
          <a:p>
            <a:pPr marL="0" indent="0" algn="l">
              <a:lnSpc>
                <a:spcPct val="104000"/>
              </a:lnSpc>
              <a:buNone/>
            </a:pPr>
            <a:r>
              <a:rPr lang="en-US" sz="1600" b="1" dirty="0">
                <a:solidFill>
                  <a:srgbClr val="2B3237"/>
                </a:solidFill>
                <a:latin typeface="IBM Plex Sans Bold" pitchFamily="34" charset="0"/>
                <a:ea typeface="IBM Plex Sans Bold" pitchFamily="34" charset="-122"/>
                <a:cs typeface="IBM Plex Sans Bold" pitchFamily="34" charset="-120"/>
              </a:rPr>
              <a:t>Semantic model</a:t>
            </a:r>
            <a:endParaRPr lang="en-US" sz="1600" dirty="0"/>
          </a:p>
        </p:txBody>
      </p:sp>
      <p:sp>
        <p:nvSpPr>
          <p:cNvPr id="8" name="Text 6"/>
          <p:cNvSpPr/>
          <p:nvPr/>
        </p:nvSpPr>
        <p:spPr>
          <a:xfrm>
            <a:off x="1181022" y="3640858"/>
            <a:ext cx="5644488" cy="457123"/>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B3237"/>
                </a:solidFill>
                <a:latin typeface="IBM Plex Sans" pitchFamily="34" charset="0"/>
                <a:ea typeface="IBM Plex Sans" pitchFamily="34" charset="-122"/>
                <a:cs typeface="IBM Plex Sans" pitchFamily="34" charset="-120"/>
              </a:rPr>
              <a:t>Analysts cannot reliably distinguish repeated source columns or know which measure family each field belongs to.</a:t>
            </a:r>
            <a:endParaRPr lang="en-US" sz="1200" dirty="0"/>
          </a:p>
        </p:txBody>
      </p:sp>
      <p:sp>
        <p:nvSpPr>
          <p:cNvPr id="9" name="Shape 7"/>
          <p:cNvSpPr/>
          <p:nvPr/>
        </p:nvSpPr>
        <p:spPr>
          <a:xfrm>
            <a:off x="736577" y="4375898"/>
            <a:ext cx="266655" cy="266655"/>
          </a:xfrm>
          <a:prstGeom prst="ellipse">
            <a:avLst/>
          </a:prstGeom>
          <a:solidFill>
            <a:srgbClr val="00C2D9"/>
          </a:solidFill>
          <a:ln w="7877">
            <a:solidFill>
              <a:srgbClr val="D9D7CC"/>
            </a:solidFill>
            <a:prstDash val="solid"/>
          </a:ln>
        </p:spPr>
      </p:sp>
      <p:sp>
        <p:nvSpPr>
          <p:cNvPr id="10" name="Text 8"/>
          <p:cNvSpPr/>
          <p:nvPr/>
        </p:nvSpPr>
        <p:spPr>
          <a:xfrm>
            <a:off x="824149" y="4433007"/>
            <a:ext cx="469553" cy="152374"/>
          </a:xfrm>
          <a:prstGeom prst="rect">
            <a:avLst/>
          </a:prstGeom>
          <a:noFill/>
          <a:ln/>
        </p:spPr>
        <p:txBody>
          <a:bodyPr wrap="none" lIns="0" tIns="0" rIns="0" bIns="0" rtlCol="0" anchor="t"/>
          <a:lstStyle/>
          <a:p>
            <a:pPr marL="0" indent="0" algn="l">
              <a:lnSpc>
                <a:spcPct val="83000"/>
              </a:lnSpc>
              <a:buNone/>
            </a:pPr>
            <a:r>
              <a:rPr lang="en-US" sz="1200" dirty="0">
                <a:solidFill>
                  <a:srgbClr val="000000"/>
                </a:solidFill>
                <a:latin typeface="IBM Plex Sans SemiBold" pitchFamily="34" charset="0"/>
                <a:ea typeface="IBM Plex Sans SemiBold" pitchFamily="34" charset="-122"/>
                <a:cs typeface="IBM Plex Sans SemiBold" pitchFamily="34" charset="-120"/>
              </a:rPr>
              <a:t>2</a:t>
            </a:r>
            <a:endParaRPr lang="en-US" sz="1200" dirty="0"/>
          </a:p>
        </p:txBody>
      </p:sp>
      <p:sp>
        <p:nvSpPr>
          <p:cNvPr id="11" name="Text 9"/>
          <p:cNvSpPr/>
          <p:nvPr/>
        </p:nvSpPr>
        <p:spPr>
          <a:xfrm>
            <a:off x="1181022" y="4362113"/>
            <a:ext cx="5644488" cy="253978"/>
          </a:xfrm>
          <a:prstGeom prst="rect">
            <a:avLst/>
          </a:prstGeom>
          <a:noFill/>
          <a:ln/>
        </p:spPr>
        <p:txBody>
          <a:bodyPr wrap="none" lIns="0" tIns="0" rIns="0" bIns="0" rtlCol="0" anchor="t"/>
          <a:lstStyle/>
          <a:p>
            <a:pPr marL="0" indent="0" algn="l">
              <a:lnSpc>
                <a:spcPct val="104000"/>
              </a:lnSpc>
              <a:buNone/>
            </a:pPr>
            <a:r>
              <a:rPr lang="en-US" sz="1600" b="1" dirty="0">
                <a:solidFill>
                  <a:srgbClr val="2B3237"/>
                </a:solidFill>
                <a:latin typeface="IBM Plex Sans Bold" pitchFamily="34" charset="0"/>
                <a:ea typeface="IBM Plex Sans Bold" pitchFamily="34" charset="-122"/>
                <a:cs typeface="IBM Plex Sans Bold" pitchFamily="34" charset="-120"/>
              </a:rPr>
              <a:t>Metric provenance</a:t>
            </a:r>
            <a:endParaRPr lang="en-US" sz="1600" dirty="0"/>
          </a:p>
        </p:txBody>
      </p:sp>
      <p:sp>
        <p:nvSpPr>
          <p:cNvPr id="12" name="Text 10"/>
          <p:cNvSpPr/>
          <p:nvPr/>
        </p:nvSpPr>
        <p:spPr>
          <a:xfrm>
            <a:off x="1181022" y="4758926"/>
            <a:ext cx="5644488" cy="457123"/>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B3237"/>
                </a:solidFill>
                <a:latin typeface="IBM Plex Sans" pitchFamily="34" charset="0"/>
                <a:ea typeface="IBM Plex Sans" pitchFamily="34" charset="-122"/>
                <a:cs typeface="IBM Plex Sans" pitchFamily="34" charset="-120"/>
              </a:rPr>
              <a:t>Year, source scope, unit, and aggregation grain are not explicit in the queries or chart subtitles.</a:t>
            </a:r>
            <a:endParaRPr lang="en-US" sz="1200" dirty="0"/>
          </a:p>
        </p:txBody>
      </p:sp>
      <p:sp>
        <p:nvSpPr>
          <p:cNvPr id="13" name="Shape 11"/>
          <p:cNvSpPr/>
          <p:nvPr/>
        </p:nvSpPr>
        <p:spPr>
          <a:xfrm>
            <a:off x="736577" y="5494027"/>
            <a:ext cx="266655" cy="266655"/>
          </a:xfrm>
          <a:prstGeom prst="ellipse">
            <a:avLst/>
          </a:prstGeom>
          <a:solidFill>
            <a:srgbClr val="00C2D9"/>
          </a:solidFill>
          <a:ln w="7877">
            <a:solidFill>
              <a:srgbClr val="D9D7CC"/>
            </a:solidFill>
            <a:prstDash val="solid"/>
          </a:ln>
        </p:spPr>
      </p:sp>
      <p:sp>
        <p:nvSpPr>
          <p:cNvPr id="14" name="Text 12"/>
          <p:cNvSpPr/>
          <p:nvPr/>
        </p:nvSpPr>
        <p:spPr>
          <a:xfrm>
            <a:off x="824149" y="5551136"/>
            <a:ext cx="469553" cy="152374"/>
          </a:xfrm>
          <a:prstGeom prst="rect">
            <a:avLst/>
          </a:prstGeom>
          <a:noFill/>
          <a:ln/>
        </p:spPr>
        <p:txBody>
          <a:bodyPr wrap="none" lIns="0" tIns="0" rIns="0" bIns="0" rtlCol="0" anchor="t"/>
          <a:lstStyle/>
          <a:p>
            <a:pPr marL="0" indent="0" algn="l">
              <a:lnSpc>
                <a:spcPct val="83000"/>
              </a:lnSpc>
              <a:buNone/>
            </a:pPr>
            <a:r>
              <a:rPr lang="en-US" sz="1200" dirty="0">
                <a:solidFill>
                  <a:srgbClr val="000000"/>
                </a:solidFill>
                <a:latin typeface="IBM Plex Sans SemiBold" pitchFamily="34" charset="0"/>
                <a:ea typeface="IBM Plex Sans SemiBold" pitchFamily="34" charset="-122"/>
                <a:cs typeface="IBM Plex Sans SemiBold" pitchFamily="34" charset="-120"/>
              </a:rPr>
              <a:t>3</a:t>
            </a:r>
            <a:endParaRPr lang="en-US" sz="1200" dirty="0"/>
          </a:p>
        </p:txBody>
      </p:sp>
      <p:sp>
        <p:nvSpPr>
          <p:cNvPr id="15" name="Text 13"/>
          <p:cNvSpPr/>
          <p:nvPr/>
        </p:nvSpPr>
        <p:spPr>
          <a:xfrm>
            <a:off x="1181022" y="5480242"/>
            <a:ext cx="5644488" cy="253978"/>
          </a:xfrm>
          <a:prstGeom prst="rect">
            <a:avLst/>
          </a:prstGeom>
          <a:noFill/>
          <a:ln/>
        </p:spPr>
        <p:txBody>
          <a:bodyPr wrap="none" lIns="0" tIns="0" rIns="0" bIns="0" rtlCol="0" anchor="t"/>
          <a:lstStyle/>
          <a:p>
            <a:pPr marL="0" indent="0" algn="l">
              <a:lnSpc>
                <a:spcPct val="104000"/>
              </a:lnSpc>
              <a:buNone/>
            </a:pPr>
            <a:r>
              <a:rPr lang="en-US" sz="1600" b="1" dirty="0">
                <a:solidFill>
                  <a:srgbClr val="2B3237"/>
                </a:solidFill>
                <a:latin typeface="IBM Plex Sans Bold" pitchFamily="34" charset="0"/>
                <a:ea typeface="IBM Plex Sans Bold" pitchFamily="34" charset="-122"/>
                <a:cs typeface="IBM Plex Sans Bold" pitchFamily="34" charset="-120"/>
              </a:rPr>
              <a:t>Geographic truth</a:t>
            </a:r>
            <a:endParaRPr lang="en-US" sz="1600" dirty="0"/>
          </a:p>
        </p:txBody>
      </p:sp>
      <p:sp>
        <p:nvSpPr>
          <p:cNvPr id="16" name="Text 14"/>
          <p:cNvSpPr/>
          <p:nvPr/>
        </p:nvSpPr>
        <p:spPr>
          <a:xfrm>
            <a:off x="1181022" y="5877055"/>
            <a:ext cx="5644488" cy="457123"/>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B3237"/>
                </a:solidFill>
                <a:latin typeface="IBM Plex Sans" pitchFamily="34" charset="0"/>
                <a:ea typeface="IBM Plex Sans" pitchFamily="34" charset="-122"/>
                <a:cs typeface="IBM Plex Sans" pitchFamily="34" charset="-120"/>
              </a:rPr>
              <a:t>The map title, selected fields, and mark encoding do not agree on whether the visual shows locations or emissions.</a:t>
            </a:r>
            <a:endParaRPr lang="en-US" sz="1200" dirty="0"/>
          </a:p>
        </p:txBody>
      </p:sp>
      <p:sp>
        <p:nvSpPr>
          <p:cNvPr id="17" name="Shape 15"/>
          <p:cNvSpPr/>
          <p:nvPr/>
        </p:nvSpPr>
        <p:spPr>
          <a:xfrm>
            <a:off x="736577" y="6612156"/>
            <a:ext cx="266655" cy="266655"/>
          </a:xfrm>
          <a:prstGeom prst="ellipse">
            <a:avLst/>
          </a:prstGeom>
          <a:solidFill>
            <a:srgbClr val="00C2D9"/>
          </a:solidFill>
          <a:ln w="7877">
            <a:solidFill>
              <a:srgbClr val="D9D7CC"/>
            </a:solidFill>
            <a:prstDash val="solid"/>
          </a:ln>
        </p:spPr>
      </p:sp>
      <p:sp>
        <p:nvSpPr>
          <p:cNvPr id="18" name="Text 16"/>
          <p:cNvSpPr/>
          <p:nvPr/>
        </p:nvSpPr>
        <p:spPr>
          <a:xfrm>
            <a:off x="824149" y="6669265"/>
            <a:ext cx="469553" cy="152374"/>
          </a:xfrm>
          <a:prstGeom prst="rect">
            <a:avLst/>
          </a:prstGeom>
          <a:noFill/>
          <a:ln/>
        </p:spPr>
        <p:txBody>
          <a:bodyPr wrap="none" lIns="0" tIns="0" rIns="0" bIns="0" rtlCol="0" anchor="t"/>
          <a:lstStyle/>
          <a:p>
            <a:pPr marL="0" indent="0" algn="l">
              <a:lnSpc>
                <a:spcPct val="83000"/>
              </a:lnSpc>
              <a:buNone/>
            </a:pPr>
            <a:r>
              <a:rPr lang="en-US" sz="1200" dirty="0">
                <a:solidFill>
                  <a:srgbClr val="000000"/>
                </a:solidFill>
                <a:latin typeface="IBM Plex Sans SemiBold" pitchFamily="34" charset="0"/>
                <a:ea typeface="IBM Plex Sans SemiBold" pitchFamily="34" charset="-122"/>
                <a:cs typeface="IBM Plex Sans SemiBold" pitchFamily="34" charset="-120"/>
              </a:rPr>
              <a:t>4</a:t>
            </a:r>
            <a:endParaRPr lang="en-US" sz="1200" dirty="0"/>
          </a:p>
        </p:txBody>
      </p:sp>
      <p:sp>
        <p:nvSpPr>
          <p:cNvPr id="19" name="Text 17"/>
          <p:cNvSpPr/>
          <p:nvPr/>
        </p:nvSpPr>
        <p:spPr>
          <a:xfrm>
            <a:off x="1181022" y="6598371"/>
            <a:ext cx="5644488" cy="253978"/>
          </a:xfrm>
          <a:prstGeom prst="rect">
            <a:avLst/>
          </a:prstGeom>
          <a:noFill/>
          <a:ln/>
        </p:spPr>
        <p:txBody>
          <a:bodyPr wrap="none" lIns="0" tIns="0" rIns="0" bIns="0" rtlCol="0" anchor="t"/>
          <a:lstStyle/>
          <a:p>
            <a:pPr marL="0" indent="0" algn="l">
              <a:lnSpc>
                <a:spcPct val="104000"/>
              </a:lnSpc>
              <a:buNone/>
            </a:pPr>
            <a:r>
              <a:rPr lang="en-US" sz="1600" b="1" dirty="0">
                <a:solidFill>
                  <a:srgbClr val="2B3237"/>
                </a:solidFill>
                <a:latin typeface="IBM Plex Sans Bold" pitchFamily="34" charset="0"/>
                <a:ea typeface="IBM Plex Sans Bold" pitchFamily="34" charset="-122"/>
                <a:cs typeface="IBM Plex Sans Bold" pitchFamily="34" charset="-120"/>
              </a:rPr>
              <a:t>Denominator truth</a:t>
            </a:r>
            <a:endParaRPr lang="en-US" sz="1600" dirty="0"/>
          </a:p>
        </p:txBody>
      </p:sp>
      <p:sp>
        <p:nvSpPr>
          <p:cNvPr id="20" name="Text 18"/>
          <p:cNvSpPr/>
          <p:nvPr/>
        </p:nvSpPr>
        <p:spPr>
          <a:xfrm>
            <a:off x="1181022" y="6995184"/>
            <a:ext cx="5644488" cy="457123"/>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B3237"/>
                </a:solidFill>
                <a:latin typeface="IBM Plex Sans" pitchFamily="34" charset="0"/>
                <a:ea typeface="IBM Plex Sans" pitchFamily="34" charset="-122"/>
                <a:cs typeface="IBM Plex Sans" pitchFamily="34" charset="-120"/>
              </a:rPr>
              <a:t>The state donut, top-10 KPI, and bar ranking use different denominators without a visible explanation.</a:t>
            </a:r>
            <a:endParaRPr lang="en-US" sz="1200" dirty="0"/>
          </a:p>
        </p:txBody>
      </p:sp>
      <p:sp>
        <p:nvSpPr>
          <p:cNvPr id="21" name="Shape 19"/>
          <p:cNvSpPr/>
          <p:nvPr/>
        </p:nvSpPr>
        <p:spPr>
          <a:xfrm>
            <a:off x="736577" y="7730285"/>
            <a:ext cx="266655" cy="266655"/>
          </a:xfrm>
          <a:prstGeom prst="ellipse">
            <a:avLst/>
          </a:prstGeom>
          <a:solidFill>
            <a:srgbClr val="00C2D9"/>
          </a:solidFill>
          <a:ln w="7877">
            <a:solidFill>
              <a:srgbClr val="D9D7CC"/>
            </a:solidFill>
            <a:prstDash val="solid"/>
          </a:ln>
        </p:spPr>
      </p:sp>
      <p:sp>
        <p:nvSpPr>
          <p:cNvPr id="22" name="Text 20"/>
          <p:cNvSpPr/>
          <p:nvPr/>
        </p:nvSpPr>
        <p:spPr>
          <a:xfrm>
            <a:off x="824149" y="7787394"/>
            <a:ext cx="469553" cy="152374"/>
          </a:xfrm>
          <a:prstGeom prst="rect">
            <a:avLst/>
          </a:prstGeom>
          <a:noFill/>
          <a:ln/>
        </p:spPr>
        <p:txBody>
          <a:bodyPr wrap="none" lIns="0" tIns="0" rIns="0" bIns="0" rtlCol="0" anchor="t"/>
          <a:lstStyle/>
          <a:p>
            <a:pPr marL="0" indent="0" algn="l">
              <a:lnSpc>
                <a:spcPct val="83000"/>
              </a:lnSpc>
              <a:buNone/>
            </a:pPr>
            <a:r>
              <a:rPr lang="en-US" sz="1200" dirty="0">
                <a:solidFill>
                  <a:srgbClr val="000000"/>
                </a:solidFill>
                <a:latin typeface="IBM Plex Sans SemiBold" pitchFamily="34" charset="0"/>
                <a:ea typeface="IBM Plex Sans SemiBold" pitchFamily="34" charset="-122"/>
                <a:cs typeface="IBM Plex Sans SemiBold" pitchFamily="34" charset="-120"/>
              </a:rPr>
              <a:t>5</a:t>
            </a:r>
            <a:endParaRPr lang="en-US" sz="1200" dirty="0"/>
          </a:p>
        </p:txBody>
      </p:sp>
      <p:sp>
        <p:nvSpPr>
          <p:cNvPr id="23" name="Text 21"/>
          <p:cNvSpPr/>
          <p:nvPr/>
        </p:nvSpPr>
        <p:spPr>
          <a:xfrm>
            <a:off x="1181022" y="7716500"/>
            <a:ext cx="5644488" cy="253978"/>
          </a:xfrm>
          <a:prstGeom prst="rect">
            <a:avLst/>
          </a:prstGeom>
          <a:noFill/>
          <a:ln/>
        </p:spPr>
        <p:txBody>
          <a:bodyPr wrap="none" lIns="0" tIns="0" rIns="0" bIns="0" rtlCol="0" anchor="t"/>
          <a:lstStyle/>
          <a:p>
            <a:pPr marL="0" indent="0" algn="l">
              <a:lnSpc>
                <a:spcPct val="104000"/>
              </a:lnSpc>
              <a:buNone/>
            </a:pPr>
            <a:r>
              <a:rPr lang="en-US" sz="1600" b="1" dirty="0">
                <a:solidFill>
                  <a:srgbClr val="2B3237"/>
                </a:solidFill>
                <a:latin typeface="IBM Plex Sans Bold" pitchFamily="34" charset="0"/>
                <a:ea typeface="IBM Plex Sans Bold" pitchFamily="34" charset="-122"/>
                <a:cs typeface="IBM Plex Sans Bold" pitchFamily="34" charset="-120"/>
              </a:rPr>
              <a:t>Outlier governance</a:t>
            </a:r>
            <a:endParaRPr lang="en-US" sz="1600" dirty="0"/>
          </a:p>
        </p:txBody>
      </p:sp>
      <p:sp>
        <p:nvSpPr>
          <p:cNvPr id="24" name="Text 22"/>
          <p:cNvSpPr/>
          <p:nvPr/>
        </p:nvSpPr>
        <p:spPr>
          <a:xfrm>
            <a:off x="1181022" y="8113313"/>
            <a:ext cx="5644488" cy="457123"/>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B3237"/>
                </a:solidFill>
                <a:latin typeface="IBM Plex Sans" pitchFamily="34" charset="0"/>
                <a:ea typeface="IBM Plex Sans" pitchFamily="34" charset="-122"/>
                <a:cs typeface="IBM Plex Sans" pitchFamily="34" charset="-120"/>
              </a:rPr>
              <a:t>High per-person values may be real, but the current view cannot distinguish a meaningful hotspot from a small-population or data-quality outlier.</a:t>
            </a:r>
            <a:endParaRPr lang="en-US" sz="1200" dirty="0"/>
          </a:p>
        </p:txBody>
      </p:sp>
      <p:sp>
        <p:nvSpPr>
          <p:cNvPr id="25" name="Shape 23"/>
          <p:cNvSpPr/>
          <p:nvPr/>
        </p:nvSpPr>
        <p:spPr>
          <a:xfrm>
            <a:off x="736577" y="8848414"/>
            <a:ext cx="266655" cy="266655"/>
          </a:xfrm>
          <a:prstGeom prst="ellipse">
            <a:avLst/>
          </a:prstGeom>
          <a:solidFill>
            <a:srgbClr val="00C2D9"/>
          </a:solidFill>
          <a:ln w="7877">
            <a:solidFill>
              <a:srgbClr val="D9D7CC"/>
            </a:solidFill>
            <a:prstDash val="solid"/>
          </a:ln>
        </p:spPr>
      </p:sp>
      <p:sp>
        <p:nvSpPr>
          <p:cNvPr id="26" name="Text 24"/>
          <p:cNvSpPr/>
          <p:nvPr/>
        </p:nvSpPr>
        <p:spPr>
          <a:xfrm>
            <a:off x="824149" y="8905524"/>
            <a:ext cx="469553" cy="152374"/>
          </a:xfrm>
          <a:prstGeom prst="rect">
            <a:avLst/>
          </a:prstGeom>
          <a:noFill/>
          <a:ln/>
        </p:spPr>
        <p:txBody>
          <a:bodyPr wrap="none" lIns="0" tIns="0" rIns="0" bIns="0" rtlCol="0" anchor="t"/>
          <a:lstStyle/>
          <a:p>
            <a:pPr marL="0" indent="0" algn="l">
              <a:lnSpc>
                <a:spcPct val="83000"/>
              </a:lnSpc>
              <a:buNone/>
            </a:pPr>
            <a:r>
              <a:rPr lang="en-US" sz="1200" dirty="0">
                <a:solidFill>
                  <a:srgbClr val="000000"/>
                </a:solidFill>
                <a:latin typeface="IBM Plex Sans SemiBold" pitchFamily="34" charset="0"/>
                <a:ea typeface="IBM Plex Sans SemiBold" pitchFamily="34" charset="-122"/>
                <a:cs typeface="IBM Plex Sans SemiBold" pitchFamily="34" charset="-120"/>
              </a:rPr>
              <a:t>6</a:t>
            </a:r>
            <a:endParaRPr lang="en-US" sz="1200" dirty="0"/>
          </a:p>
        </p:txBody>
      </p:sp>
      <p:sp>
        <p:nvSpPr>
          <p:cNvPr id="27" name="Text 25"/>
          <p:cNvSpPr/>
          <p:nvPr/>
        </p:nvSpPr>
        <p:spPr>
          <a:xfrm>
            <a:off x="1181022" y="8834629"/>
            <a:ext cx="5644488" cy="253978"/>
          </a:xfrm>
          <a:prstGeom prst="rect">
            <a:avLst/>
          </a:prstGeom>
          <a:noFill/>
          <a:ln/>
        </p:spPr>
        <p:txBody>
          <a:bodyPr wrap="none" lIns="0" tIns="0" rIns="0" bIns="0" rtlCol="0" anchor="t"/>
          <a:lstStyle/>
          <a:p>
            <a:pPr marL="0" indent="0" algn="l">
              <a:lnSpc>
                <a:spcPct val="104000"/>
              </a:lnSpc>
              <a:buNone/>
            </a:pPr>
            <a:r>
              <a:rPr lang="en-US" sz="1600" b="1" dirty="0">
                <a:solidFill>
                  <a:srgbClr val="2B3237"/>
                </a:solidFill>
                <a:latin typeface="IBM Plex Sans Bold" pitchFamily="34" charset="0"/>
                <a:ea typeface="IBM Plex Sans Bold" pitchFamily="34" charset="-122"/>
                <a:cs typeface="IBM Plex Sans Bold" pitchFamily="34" charset="-120"/>
              </a:rPr>
              <a:t>Maintenance</a:t>
            </a:r>
            <a:endParaRPr lang="en-US" sz="1600" dirty="0"/>
          </a:p>
        </p:txBody>
      </p:sp>
      <p:sp>
        <p:nvSpPr>
          <p:cNvPr id="28" name="Text 26"/>
          <p:cNvSpPr/>
          <p:nvPr/>
        </p:nvSpPr>
        <p:spPr>
          <a:xfrm>
            <a:off x="1181022" y="9231442"/>
            <a:ext cx="5644488" cy="457123"/>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B3237"/>
                </a:solidFill>
                <a:latin typeface="IBM Plex Sans" pitchFamily="34" charset="0"/>
                <a:ea typeface="IBM Plex Sans" pitchFamily="34" charset="-122"/>
                <a:cs typeface="IBM Plex Sans" pitchFamily="34" charset="-120"/>
              </a:rPr>
              <a:t>Repeated inline casts and implicit assumptions make the dashboard harder to extend, test, and audit when the dataset changes.</a:t>
            </a:r>
            <a:endParaRPr lang="en-US" sz="1200" dirty="0"/>
          </a:p>
        </p:txBody>
      </p:sp>
      <p:sp>
        <p:nvSpPr>
          <p:cNvPr id="29" name="Text 27"/>
          <p:cNvSpPr/>
          <p:nvPr/>
        </p:nvSpPr>
        <p:spPr>
          <a:xfrm>
            <a:off x="3738827" y="10357510"/>
            <a:ext cx="462599" cy="180991"/>
          </a:xfrm>
          <a:prstGeom prst="rect">
            <a:avLst/>
          </a:prstGeom>
          <a:noFill/>
          <a:ln/>
        </p:spPr>
        <p:txBody>
          <a:bodyPr wrap="none" lIns="0" tIns="0" rIns="0" bIns="0" rtlCol="0" anchor="ctr"/>
          <a:lstStyle/>
          <a:p>
            <a:pPr marL="0" indent="0" algn="l">
              <a:lnSpc>
                <a:spcPct val="125000"/>
              </a:lnSpc>
              <a:buNone/>
            </a:pPr>
            <a:r>
              <a:rPr lang="en-US" sz="950" kern="0" spc="95" dirty="0">
                <a:solidFill>
                  <a:srgbClr val="2B3237"/>
                </a:solidFill>
                <a:latin typeface="IBM Plex Sans SemiBold" pitchFamily="34" charset="0"/>
                <a:ea typeface="IBM Plex Sans SemiBold" pitchFamily="34" charset="-122"/>
                <a:cs typeface="IBM Plex Sans SemiBold"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6577" y="736578"/>
            <a:ext cx="6467038" cy="156867"/>
          </a:xfrm>
          <a:prstGeom prst="rect">
            <a:avLst/>
          </a:prstGeom>
          <a:noFill/>
          <a:ln/>
        </p:spPr>
        <p:txBody>
          <a:bodyPr wrap="none" lIns="0" tIns="0" rIns="0" bIns="0" rtlCol="0" anchor="t"/>
          <a:lstStyle/>
          <a:p>
            <a:pPr marL="0" indent="0" algn="l">
              <a:lnSpc>
                <a:spcPct val="108000"/>
              </a:lnSpc>
              <a:buNone/>
            </a:pPr>
            <a:r>
              <a:rPr lang="en-US" sz="950" kern="0" spc="95" dirty="0">
                <a:solidFill>
                  <a:srgbClr val="006B75"/>
                </a:solidFill>
                <a:latin typeface="IBM Plex Sans SemiBold" pitchFamily="34" charset="0"/>
                <a:ea typeface="IBM Plex Sans SemiBold" pitchFamily="34" charset="-122"/>
                <a:cs typeface="IBM Plex Sans SemiBold" pitchFamily="34" charset="-120"/>
              </a:rPr>
              <a:t>07 · RECOMMENDATION</a:t>
            </a:r>
            <a:endParaRPr lang="en-US" sz="950" dirty="0"/>
          </a:p>
        </p:txBody>
      </p:sp>
      <p:sp>
        <p:nvSpPr>
          <p:cNvPr id="3" name="Text 1"/>
          <p:cNvSpPr/>
          <p:nvPr/>
        </p:nvSpPr>
        <p:spPr>
          <a:xfrm>
            <a:off x="736577" y="972770"/>
            <a:ext cx="6088933" cy="838181"/>
          </a:xfrm>
          <a:prstGeom prst="rect">
            <a:avLst/>
          </a:prstGeom>
          <a:noFill/>
          <a:ln/>
        </p:spPr>
        <p:txBody>
          <a:bodyPr wrap="square" lIns="0" tIns="0" rIns="0" bIns="0" rtlCol="0" anchor="t">
            <a:normAutofit lnSpcReduction="10000"/>
          </a:bodyPr>
          <a:lstStyle/>
          <a:p>
            <a:pPr marL="0" indent="0" algn="l">
              <a:lnSpc>
                <a:spcPct val="92000"/>
              </a:lnSpc>
              <a:buNone/>
            </a:pPr>
            <a:r>
              <a:rPr lang="en-US" sz="3000" dirty="0">
                <a:solidFill>
                  <a:srgbClr val="20262B"/>
                </a:solidFill>
                <a:latin typeface="IBM Plex Sans Condensed" pitchFamily="34" charset="0"/>
                <a:ea typeface="IBM Plex Sans Condensed" pitchFamily="34" charset="-122"/>
                <a:cs typeface="IBM Plex Sans Condensed" pitchFamily="34" charset="-120"/>
              </a:rPr>
              <a:t>Recommended path: fix the data contract first, then sharpen the story</a:t>
            </a:r>
            <a:endParaRPr lang="en-US" sz="3000" dirty="0"/>
          </a:p>
        </p:txBody>
      </p:sp>
      <p:sp>
        <p:nvSpPr>
          <p:cNvPr id="4" name="Text 2"/>
          <p:cNvSpPr/>
          <p:nvPr/>
        </p:nvSpPr>
        <p:spPr>
          <a:xfrm>
            <a:off x="736577" y="2007758"/>
            <a:ext cx="6088933" cy="457123"/>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B3237"/>
                </a:solidFill>
                <a:latin typeface="IBM Plex Sans" pitchFamily="34" charset="0"/>
                <a:ea typeface="IBM Plex Sans" pitchFamily="34" charset="-122"/>
                <a:cs typeface="IBM Plex Sans" pitchFamily="34" charset="-120"/>
              </a:rPr>
              <a:t>Treat the current dashboard as exploratory. Make definitions visible now, then move the logic into a typed, documented analytical view before expanding the story.</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6577" y="2642671"/>
          <a:ext cx="6088934" cy="2926371"/>
        </p:xfrm>
        <a:graphic>
          <a:graphicData uri="http://schemas.openxmlformats.org/drawingml/2006/table">
            <a:tbl>
              <a:tblPr/>
              <a:tblGrid>
                <a:gridCol w="730672">
                  <a:extLst>
                    <a:ext uri="{9D8B030D-6E8A-4147-A177-3AD203B41FA5}">
                      <a16:colId xmlns:a16="http://schemas.microsoft.com/office/drawing/2014/main" val="20000"/>
                    </a:ext>
                  </a:extLst>
                </a:gridCol>
                <a:gridCol w="1096008">
                  <a:extLst>
                    <a:ext uri="{9D8B030D-6E8A-4147-A177-3AD203B41FA5}">
                      <a16:colId xmlns:a16="http://schemas.microsoft.com/office/drawing/2014/main" val="20001"/>
                    </a:ext>
                  </a:extLst>
                </a:gridCol>
                <a:gridCol w="1765791">
                  <a:extLst>
                    <a:ext uri="{9D8B030D-6E8A-4147-A177-3AD203B41FA5}">
                      <a16:colId xmlns:a16="http://schemas.microsoft.com/office/drawing/2014/main" val="20002"/>
                    </a:ext>
                  </a:extLst>
                </a:gridCol>
                <a:gridCol w="2496463">
                  <a:extLst>
                    <a:ext uri="{9D8B030D-6E8A-4147-A177-3AD203B41FA5}">
                      <a16:colId xmlns:a16="http://schemas.microsoft.com/office/drawing/2014/main" val="20003"/>
                    </a:ext>
                  </a:extLst>
                </a:gridCol>
              </a:tblGrid>
              <a:tr h="358288">
                <a:tc>
                  <a:txBody>
                    <a:bodyPr/>
                    <a:lstStyle/>
                    <a:p>
                      <a:pPr marL="0" indent="0">
                        <a:buNone/>
                      </a:pPr>
                      <a:r>
                        <a:rPr lang="en-US" sz="1200" dirty="0">
                          <a:solidFill>
                            <a:srgbClr val="20262B"/>
                          </a:solidFill>
                          <a:latin typeface="IBM Plex Sans" pitchFamily="34" charset="0"/>
                          <a:ea typeface="IBM Plex Sans" pitchFamily="34" charset="-122"/>
                          <a:cs typeface="IBM Plex Sans" pitchFamily="34" charset="-120"/>
                        </a:rPr>
                        <a:t>Priority</a:t>
                      </a:r>
                      <a:endParaRPr lang="en-US" sz="1200" dirty="0">
                        <a:latin typeface="IBM Plex Sans" charset="0"/>
                        <a:ea typeface="IBM Plex Sans" charset="0"/>
                        <a:cs typeface="IBM Plex Sans" charset="0"/>
                      </a:endParaRPr>
                    </a:p>
                  </a:txBody>
                  <a:tcPr marL="114300" marR="114300" marT="60960" marB="6096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FFFEF8"/>
                      </a:solidFill>
                      <a:prstDash val="solid"/>
                      <a:round/>
                      <a:headEnd type="none" w="med" len="med"/>
                      <a:tailEnd type="none" w="med" len="med"/>
                    </a:lnT>
                    <a:lnB w="12700" cap="flat" cmpd="sng" algn="ctr">
                      <a:solidFill>
                        <a:srgbClr val="C9D0D3"/>
                      </a:solidFill>
                      <a:prstDash val="solid"/>
                      <a:round/>
                      <a:headEnd type="none" w="med" len="med"/>
                      <a:tailEnd type="none" w="med" len="med"/>
                    </a:lnB>
                    <a:solidFill>
                      <a:srgbClr val="FFFEF8"/>
                    </a:solidFill>
                  </a:tcPr>
                </a:tc>
                <a:tc>
                  <a:txBody>
                    <a:bodyPr/>
                    <a:lstStyle/>
                    <a:p>
                      <a:pPr marL="0" indent="0">
                        <a:buNone/>
                      </a:pPr>
                      <a:r>
                        <a:rPr lang="en-US" sz="1200" dirty="0">
                          <a:solidFill>
                            <a:srgbClr val="20262B"/>
                          </a:solidFill>
                          <a:latin typeface="IBM Plex Sans" pitchFamily="34" charset="0"/>
                          <a:ea typeface="IBM Plex Sans" pitchFamily="34" charset="-122"/>
                          <a:cs typeface="IBM Plex Sans" pitchFamily="34" charset="-120"/>
                        </a:rPr>
                        <a:t>Owner</a:t>
                      </a:r>
                      <a:endParaRPr lang="en-US" sz="1200" dirty="0">
                        <a:latin typeface="IBM Plex Sans" charset="0"/>
                        <a:ea typeface="IBM Plex Sans" charset="0"/>
                        <a:cs typeface="IBM Plex Sans" charset="0"/>
                      </a:endParaRPr>
                    </a:p>
                  </a:txBody>
                  <a:tcPr marL="114300" marR="114300" marT="60960" marB="6096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FFFEF8"/>
                      </a:solidFill>
                      <a:prstDash val="solid"/>
                      <a:round/>
                      <a:headEnd type="none" w="med" len="med"/>
                      <a:tailEnd type="none" w="med" len="med"/>
                    </a:lnT>
                    <a:lnB w="12700" cap="flat" cmpd="sng" algn="ctr">
                      <a:solidFill>
                        <a:srgbClr val="C9D0D3"/>
                      </a:solidFill>
                      <a:prstDash val="solid"/>
                      <a:round/>
                      <a:headEnd type="none" w="med" len="med"/>
                      <a:tailEnd type="none" w="med" len="med"/>
                    </a:lnB>
                    <a:solidFill>
                      <a:srgbClr val="FFFEF8"/>
                    </a:solidFill>
                  </a:tcPr>
                </a:tc>
                <a:tc>
                  <a:txBody>
                    <a:bodyPr/>
                    <a:lstStyle/>
                    <a:p>
                      <a:pPr marL="0" indent="0">
                        <a:buNone/>
                      </a:pPr>
                      <a:r>
                        <a:rPr lang="en-US" sz="1200" dirty="0">
                          <a:solidFill>
                            <a:srgbClr val="20262B"/>
                          </a:solidFill>
                          <a:latin typeface="IBM Plex Sans" pitchFamily="34" charset="0"/>
                          <a:ea typeface="IBM Plex Sans" pitchFamily="34" charset="-122"/>
                          <a:cs typeface="IBM Plex Sans" pitchFamily="34" charset="-120"/>
                        </a:rPr>
                        <a:t>Deliverable</a:t>
                      </a:r>
                      <a:endParaRPr lang="en-US" sz="1200" dirty="0">
                        <a:latin typeface="IBM Plex Sans" charset="0"/>
                        <a:ea typeface="IBM Plex Sans" charset="0"/>
                        <a:cs typeface="IBM Plex Sans" charset="0"/>
                      </a:endParaRPr>
                    </a:p>
                  </a:txBody>
                  <a:tcPr marL="114300" marR="114300" marT="60960" marB="6096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FFFEF8"/>
                      </a:solidFill>
                      <a:prstDash val="solid"/>
                      <a:round/>
                      <a:headEnd type="none" w="med" len="med"/>
                      <a:tailEnd type="none" w="med" len="med"/>
                    </a:lnT>
                    <a:lnB w="12700" cap="flat" cmpd="sng" algn="ctr">
                      <a:solidFill>
                        <a:srgbClr val="C9D0D3"/>
                      </a:solidFill>
                      <a:prstDash val="solid"/>
                      <a:round/>
                      <a:headEnd type="none" w="med" len="med"/>
                      <a:tailEnd type="none" w="med" len="med"/>
                    </a:lnB>
                    <a:solidFill>
                      <a:srgbClr val="FFFEF8"/>
                    </a:solidFill>
                  </a:tcPr>
                </a:tc>
                <a:tc>
                  <a:txBody>
                    <a:bodyPr/>
                    <a:lstStyle/>
                    <a:p>
                      <a:pPr marL="0" indent="0">
                        <a:buNone/>
                      </a:pPr>
                      <a:r>
                        <a:rPr lang="en-US" sz="1200" dirty="0">
                          <a:solidFill>
                            <a:srgbClr val="20262B"/>
                          </a:solidFill>
                          <a:latin typeface="IBM Plex Sans" pitchFamily="34" charset="0"/>
                          <a:ea typeface="IBM Plex Sans" pitchFamily="34" charset="-122"/>
                          <a:cs typeface="IBM Plex Sans" pitchFamily="34" charset="-120"/>
                        </a:rPr>
                        <a:t>Success check</a:t>
                      </a:r>
                      <a:endParaRPr lang="en-US" sz="1200" dirty="0">
                        <a:latin typeface="IBM Plex Sans" charset="0"/>
                        <a:ea typeface="IBM Plex Sans" charset="0"/>
                        <a:cs typeface="IBM Plex Sans" charset="0"/>
                      </a:endParaRPr>
                    </a:p>
                  </a:txBody>
                  <a:tcPr marL="114300" marR="114300" marT="60960" marB="6096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FFFEF8"/>
                      </a:solidFill>
                      <a:prstDash val="solid"/>
                      <a:round/>
                      <a:headEnd type="none" w="med" len="med"/>
                      <a:tailEnd type="none" w="med" len="med"/>
                    </a:lnT>
                    <a:lnB w="12700" cap="flat" cmpd="sng" algn="ctr">
                      <a:solidFill>
                        <a:srgbClr val="C9D0D3"/>
                      </a:solidFill>
                      <a:prstDash val="solid"/>
                      <a:round/>
                      <a:headEnd type="none" w="med" len="med"/>
                      <a:tailEnd type="none" w="med" len="med"/>
                    </a:lnB>
                    <a:solidFill>
                      <a:srgbClr val="FFFEF8"/>
                    </a:solidFill>
                  </a:tcPr>
                </a:tc>
                <a:extLst>
                  <a:ext uri="{0D108BD9-81ED-4DB2-BD59-A6C34878D82A}">
                    <a16:rowId xmlns:a16="http://schemas.microsoft.com/office/drawing/2014/main" val="10000"/>
                  </a:ext>
                </a:extLst>
              </a:tr>
              <a:tr h="815411">
                <a:tc>
                  <a:txBody>
                    <a:bodyPr/>
                    <a:lstStyle/>
                    <a:p>
                      <a:pPr marL="0" indent="0">
                        <a:buNone/>
                      </a:pPr>
                      <a:r>
                        <a:rPr lang="en-US" sz="1200" b="1" dirty="0">
                          <a:solidFill>
                            <a:srgbClr val="2B3237"/>
                          </a:solidFill>
                          <a:latin typeface="IBM Plex Sans" pitchFamily="34" charset="0"/>
                          <a:ea typeface="IBM Plex Sans" pitchFamily="34" charset="-122"/>
                          <a:cs typeface="IBM Plex Sans" pitchFamily="34" charset="-120"/>
                        </a:rPr>
                        <a:t>P0</a:t>
                      </a:r>
                      <a:endParaRPr lang="en-US" sz="1200" dirty="0">
                        <a:latin typeface="IBM Plex Sans" charset="0"/>
                        <a:ea typeface="IBM Plex Sans" charset="0"/>
                        <a:cs typeface="IBM Plex Sans" charset="0"/>
                      </a:endParaRPr>
                    </a:p>
                  </a:txBody>
                  <a:tcPr marL="114300" marR="114300" marT="60960" marB="6096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C9D0D3"/>
                      </a:solidFill>
                      <a:prstDash val="solid"/>
                      <a:round/>
                      <a:headEnd type="none" w="med" len="med"/>
                      <a:tailEnd type="none" w="med" len="med"/>
                    </a:lnT>
                    <a:lnB w="12700" cap="flat" cmpd="sng" algn="ctr">
                      <a:solidFill>
                        <a:srgbClr val="C9D0D3"/>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BI / analytics</a:t>
                      </a:r>
                      <a:endParaRPr lang="en-US" sz="1200" dirty="0">
                        <a:latin typeface="IBM Plex Sans" charset="0"/>
                        <a:ea typeface="IBM Plex Sans" charset="0"/>
                        <a:cs typeface="IBM Plex Sans" charset="0"/>
                      </a:endParaRPr>
                    </a:p>
                  </a:txBody>
                  <a:tcPr marL="114300" marR="114300" marT="60960" marB="6096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C9D0D3"/>
                      </a:solidFill>
                      <a:prstDash val="solid"/>
                      <a:round/>
                      <a:headEnd type="none" w="med" len="med"/>
                      <a:tailEnd type="none" w="med" len="med"/>
                    </a:lnT>
                    <a:lnB w="12700" cap="flat" cmpd="sng" algn="ctr">
                      <a:solidFill>
                        <a:srgbClr val="C9D0D3"/>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Correct chart labels and denominators</a:t>
                      </a:r>
                      <a:endParaRPr lang="en-US" sz="1200" dirty="0">
                        <a:latin typeface="IBM Plex Sans" charset="0"/>
                        <a:ea typeface="IBM Plex Sans" charset="0"/>
                        <a:cs typeface="IBM Plex Sans" charset="0"/>
                      </a:endParaRPr>
                    </a:p>
                  </a:txBody>
                  <a:tcPr marL="114300" marR="114300" marT="60960" marB="6096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C9D0D3"/>
                      </a:solidFill>
                      <a:prstDash val="solid"/>
                      <a:round/>
                      <a:headEnd type="none" w="med" len="med"/>
                      <a:tailEnd type="none" w="med" len="med"/>
                    </a:lnT>
                    <a:lnB w="12700" cap="flat" cmpd="sng" algn="ctr">
                      <a:solidFill>
                        <a:srgbClr val="C9D0D3"/>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A reviewer can explain every percentage without opening SQL.</a:t>
                      </a:r>
                      <a:endParaRPr lang="en-US" sz="1200" dirty="0">
                        <a:latin typeface="IBM Plex Sans" charset="0"/>
                        <a:ea typeface="IBM Plex Sans" charset="0"/>
                        <a:cs typeface="IBM Plex Sans" charset="0"/>
                      </a:endParaRPr>
                    </a:p>
                  </a:txBody>
                  <a:tcPr marL="114300" marR="114300" marT="60960" marB="6096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C9D0D3"/>
                      </a:solidFill>
                      <a:prstDash val="solid"/>
                      <a:round/>
                      <a:headEnd type="none" w="med" len="med"/>
                      <a:tailEnd type="none" w="med" len="med"/>
                    </a:lnT>
                    <a:lnB w="12700" cap="flat" cmpd="sng" algn="ctr">
                      <a:solidFill>
                        <a:srgbClr val="C9D0D3"/>
                      </a:solidFill>
                      <a:prstDash val="solid"/>
                      <a:round/>
                      <a:headEnd type="none" w="med" len="med"/>
                      <a:tailEnd type="none" w="med" len="med"/>
                    </a:lnB>
                    <a:solidFill>
                      <a:srgbClr val="FFFEF8"/>
                    </a:solidFill>
                  </a:tcPr>
                </a:tc>
                <a:extLst>
                  <a:ext uri="{0D108BD9-81ED-4DB2-BD59-A6C34878D82A}">
                    <a16:rowId xmlns:a16="http://schemas.microsoft.com/office/drawing/2014/main" val="10001"/>
                  </a:ext>
                </a:extLst>
              </a:tr>
              <a:tr h="586850">
                <a:tc>
                  <a:txBody>
                    <a:bodyPr/>
                    <a:lstStyle/>
                    <a:p>
                      <a:pPr marL="0" indent="0">
                        <a:buNone/>
                      </a:pPr>
                      <a:r>
                        <a:rPr lang="en-US" sz="1200" b="1" dirty="0">
                          <a:solidFill>
                            <a:srgbClr val="2B3237"/>
                          </a:solidFill>
                          <a:latin typeface="IBM Plex Sans" pitchFamily="34" charset="0"/>
                          <a:ea typeface="IBM Plex Sans" pitchFamily="34" charset="-122"/>
                          <a:cs typeface="IBM Plex Sans" pitchFamily="34" charset="-120"/>
                        </a:rPr>
                        <a:t>P1</a:t>
                      </a:r>
                      <a:endParaRPr lang="en-US" sz="1200" dirty="0">
                        <a:latin typeface="IBM Plex Sans" charset="0"/>
                        <a:ea typeface="IBM Plex Sans" charset="0"/>
                        <a:cs typeface="IBM Plex Sans" charset="0"/>
                      </a:endParaRPr>
                    </a:p>
                  </a:txBody>
                  <a:tcPr marL="114300" marR="114300" marT="60960" marB="6096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C9D0D3"/>
                      </a:solidFill>
                      <a:prstDash val="solid"/>
                      <a:round/>
                      <a:headEnd type="none" w="med" len="med"/>
                      <a:tailEnd type="none" w="med" len="med"/>
                    </a:lnT>
                    <a:lnB w="12700" cap="flat" cmpd="sng" algn="ctr">
                      <a:solidFill>
                        <a:srgbClr val="C9D0D3"/>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Data engineering</a:t>
                      </a:r>
                      <a:endParaRPr lang="en-US" sz="1200" dirty="0">
                        <a:latin typeface="IBM Plex Sans" charset="0"/>
                        <a:ea typeface="IBM Plex Sans" charset="0"/>
                        <a:cs typeface="IBM Plex Sans" charset="0"/>
                      </a:endParaRPr>
                    </a:p>
                  </a:txBody>
                  <a:tcPr marL="114300" marR="114300" marT="60960" marB="6096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C9D0D3"/>
                      </a:solidFill>
                      <a:prstDash val="solid"/>
                      <a:round/>
                      <a:headEnd type="none" w="med" len="med"/>
                      <a:tailEnd type="none" w="med" len="med"/>
                    </a:lnT>
                    <a:lnB w="12700" cap="flat" cmpd="sng" algn="ctr">
                      <a:solidFill>
                        <a:srgbClr val="C9D0D3"/>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Typed, documented analytical view</a:t>
                      </a:r>
                      <a:endParaRPr lang="en-US" sz="1200" dirty="0">
                        <a:latin typeface="IBM Plex Sans" charset="0"/>
                        <a:ea typeface="IBM Plex Sans" charset="0"/>
                        <a:cs typeface="IBM Plex Sans" charset="0"/>
                      </a:endParaRPr>
                    </a:p>
                  </a:txBody>
                  <a:tcPr marL="114300" marR="114300" marT="60960" marB="6096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C9D0D3"/>
                      </a:solidFill>
                      <a:prstDash val="solid"/>
                      <a:round/>
                      <a:headEnd type="none" w="med" len="med"/>
                      <a:tailEnd type="none" w="med" len="med"/>
                    </a:lnT>
                    <a:lnB w="12700" cap="flat" cmpd="sng" algn="ctr">
                      <a:solidFill>
                        <a:srgbClr val="C9D0D3"/>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No repeated string casts; keys and year are explicit.</a:t>
                      </a:r>
                      <a:endParaRPr lang="en-US" sz="1200" dirty="0">
                        <a:latin typeface="IBM Plex Sans" charset="0"/>
                        <a:ea typeface="IBM Plex Sans" charset="0"/>
                        <a:cs typeface="IBM Plex Sans" charset="0"/>
                      </a:endParaRPr>
                    </a:p>
                  </a:txBody>
                  <a:tcPr marL="114300" marR="114300" marT="60960" marB="6096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C9D0D3"/>
                      </a:solidFill>
                      <a:prstDash val="solid"/>
                      <a:round/>
                      <a:headEnd type="none" w="med" len="med"/>
                      <a:tailEnd type="none" w="med" len="med"/>
                    </a:lnT>
                    <a:lnB w="12700" cap="flat" cmpd="sng" algn="ctr">
                      <a:solidFill>
                        <a:srgbClr val="C9D0D3"/>
                      </a:solidFill>
                      <a:prstDash val="solid"/>
                      <a:round/>
                      <a:headEnd type="none" w="med" len="med"/>
                      <a:tailEnd type="none" w="med" len="med"/>
                    </a:lnB>
                    <a:solidFill>
                      <a:srgbClr val="FFFEF8"/>
                    </a:solidFill>
                  </a:tcPr>
                </a:tc>
                <a:extLst>
                  <a:ext uri="{0D108BD9-81ED-4DB2-BD59-A6C34878D82A}">
                    <a16:rowId xmlns:a16="http://schemas.microsoft.com/office/drawing/2014/main" val="10002"/>
                  </a:ext>
                </a:extLst>
              </a:tr>
              <a:tr h="586850">
                <a:tc>
                  <a:txBody>
                    <a:bodyPr/>
                    <a:lstStyle/>
                    <a:p>
                      <a:pPr marL="0" indent="0">
                        <a:buNone/>
                      </a:pPr>
                      <a:r>
                        <a:rPr lang="en-US" sz="1200" b="1" dirty="0">
                          <a:solidFill>
                            <a:srgbClr val="2B3237"/>
                          </a:solidFill>
                          <a:latin typeface="IBM Plex Sans" pitchFamily="34" charset="0"/>
                          <a:ea typeface="IBM Plex Sans" pitchFamily="34" charset="-122"/>
                          <a:cs typeface="IBM Plex Sans" pitchFamily="34" charset="-120"/>
                        </a:rPr>
                        <a:t>P1</a:t>
                      </a:r>
                      <a:endParaRPr lang="en-US" sz="1200" dirty="0">
                        <a:latin typeface="IBM Plex Sans" charset="0"/>
                        <a:ea typeface="IBM Plex Sans" charset="0"/>
                        <a:cs typeface="IBM Plex Sans" charset="0"/>
                      </a:endParaRPr>
                    </a:p>
                  </a:txBody>
                  <a:tcPr marL="114300" marR="114300" marT="60960" marB="6096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C9D0D3"/>
                      </a:solidFill>
                      <a:prstDash val="solid"/>
                      <a:round/>
                      <a:headEnd type="none" w="med" len="med"/>
                      <a:tailEnd type="none" w="med" len="med"/>
                    </a:lnT>
                    <a:lnB w="12700" cap="flat" cmpd="sng" algn="ctr">
                      <a:solidFill>
                        <a:srgbClr val="C9D0D3"/>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Analytics</a:t>
                      </a:r>
                      <a:endParaRPr lang="en-US" sz="1200" dirty="0">
                        <a:latin typeface="IBM Plex Sans" charset="0"/>
                        <a:ea typeface="IBM Plex Sans" charset="0"/>
                        <a:cs typeface="IBM Plex Sans" charset="0"/>
                      </a:endParaRPr>
                    </a:p>
                  </a:txBody>
                  <a:tcPr marL="114300" marR="114300" marT="60960" marB="6096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C9D0D3"/>
                      </a:solidFill>
                      <a:prstDash val="solid"/>
                      <a:round/>
                      <a:headEnd type="none" w="med" len="med"/>
                      <a:tailEnd type="none" w="med" len="med"/>
                    </a:lnT>
                    <a:lnB w="12700" cap="flat" cmpd="sng" algn="ctr">
                      <a:solidFill>
                        <a:srgbClr val="C9D0D3"/>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Robust population analysis</a:t>
                      </a:r>
                      <a:endParaRPr lang="en-US" sz="1200" dirty="0">
                        <a:latin typeface="IBM Plex Sans" charset="0"/>
                        <a:ea typeface="IBM Plex Sans" charset="0"/>
                        <a:cs typeface="IBM Plex Sans" charset="0"/>
                      </a:endParaRPr>
                    </a:p>
                  </a:txBody>
                  <a:tcPr marL="114300" marR="114300" marT="60960" marB="6096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C9D0D3"/>
                      </a:solidFill>
                      <a:prstDash val="solid"/>
                      <a:round/>
                      <a:headEnd type="none" w="med" len="med"/>
                      <a:tailEnd type="none" w="med" len="med"/>
                    </a:lnT>
                    <a:lnB w="12700" cap="flat" cmpd="sng" algn="ctr">
                      <a:solidFill>
                        <a:srgbClr val="C9D0D3"/>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Trendline, correlation, outliers, and units are visible.</a:t>
                      </a:r>
                      <a:endParaRPr lang="en-US" sz="1200" dirty="0">
                        <a:latin typeface="IBM Plex Sans" charset="0"/>
                        <a:ea typeface="IBM Plex Sans" charset="0"/>
                        <a:cs typeface="IBM Plex Sans" charset="0"/>
                      </a:endParaRPr>
                    </a:p>
                  </a:txBody>
                  <a:tcPr marL="114300" marR="114300" marT="60960" marB="6096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C9D0D3"/>
                      </a:solidFill>
                      <a:prstDash val="solid"/>
                      <a:round/>
                      <a:headEnd type="none" w="med" len="med"/>
                      <a:tailEnd type="none" w="med" len="med"/>
                    </a:lnT>
                    <a:lnB w="12700" cap="flat" cmpd="sng" algn="ctr">
                      <a:solidFill>
                        <a:srgbClr val="C9D0D3"/>
                      </a:solidFill>
                      <a:prstDash val="solid"/>
                      <a:round/>
                      <a:headEnd type="none" w="med" len="med"/>
                      <a:tailEnd type="none" w="med" len="med"/>
                    </a:lnB>
                    <a:solidFill>
                      <a:srgbClr val="FFFEF8"/>
                    </a:solidFill>
                  </a:tcPr>
                </a:tc>
                <a:extLst>
                  <a:ext uri="{0D108BD9-81ED-4DB2-BD59-A6C34878D82A}">
                    <a16:rowId xmlns:a16="http://schemas.microsoft.com/office/drawing/2014/main" val="10003"/>
                  </a:ext>
                </a:extLst>
              </a:tr>
              <a:tr h="578972">
                <a:tc>
                  <a:txBody>
                    <a:bodyPr/>
                    <a:lstStyle/>
                    <a:p>
                      <a:pPr marL="0" indent="0">
                        <a:buNone/>
                      </a:pPr>
                      <a:r>
                        <a:rPr lang="en-US" sz="1200" b="1" dirty="0">
                          <a:solidFill>
                            <a:srgbClr val="2B3237"/>
                          </a:solidFill>
                          <a:latin typeface="IBM Plex Sans" pitchFamily="34" charset="0"/>
                          <a:ea typeface="IBM Plex Sans" pitchFamily="34" charset="-122"/>
                          <a:cs typeface="IBM Plex Sans" pitchFamily="34" charset="-120"/>
                        </a:rPr>
                        <a:t>P2</a:t>
                      </a:r>
                      <a:endParaRPr lang="en-US" sz="1200" dirty="0">
                        <a:latin typeface="IBM Plex Sans" charset="0"/>
                        <a:ea typeface="IBM Plex Sans" charset="0"/>
                        <a:cs typeface="IBM Plex Sans" charset="0"/>
                      </a:endParaRPr>
                    </a:p>
                  </a:txBody>
                  <a:tcPr marL="114300" marR="114300" marT="60960" marB="6096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C9D0D3"/>
                      </a:solidFill>
                      <a:prstDash val="solid"/>
                      <a:round/>
                      <a:headEnd type="none" w="med" len="med"/>
                      <a:tailEnd type="none" w="med" len="med"/>
                    </a:lnT>
                    <a:lnB w="12700" cap="flat" cmpd="sng" algn="ctr">
                      <a:solidFill>
                        <a:srgbClr val="FFFEF8"/>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Data governance</a:t>
                      </a:r>
                      <a:endParaRPr lang="en-US" sz="1200" dirty="0">
                        <a:latin typeface="IBM Plex Sans" charset="0"/>
                        <a:ea typeface="IBM Plex Sans" charset="0"/>
                        <a:cs typeface="IBM Plex Sans" charset="0"/>
                      </a:endParaRPr>
                    </a:p>
                  </a:txBody>
                  <a:tcPr marL="114300" marR="114300" marT="60960" marB="6096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C9D0D3"/>
                      </a:solidFill>
                      <a:prstDash val="solid"/>
                      <a:round/>
                      <a:headEnd type="none" w="med" len="med"/>
                      <a:tailEnd type="none" w="med" len="med"/>
                    </a:lnT>
                    <a:lnB w="12700" cap="flat" cmpd="sng" algn="ctr">
                      <a:solidFill>
                        <a:srgbClr val="FFFEF8"/>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Metric dictionary and refresh QA</a:t>
                      </a:r>
                      <a:endParaRPr lang="en-US" sz="1200" dirty="0">
                        <a:latin typeface="IBM Plex Sans" charset="0"/>
                        <a:ea typeface="IBM Plex Sans" charset="0"/>
                        <a:cs typeface="IBM Plex Sans" charset="0"/>
                      </a:endParaRPr>
                    </a:p>
                  </a:txBody>
                  <a:tcPr marL="114300" marR="114300" marT="60960" marB="6096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C9D0D3"/>
                      </a:solidFill>
                      <a:prstDash val="solid"/>
                      <a:round/>
                      <a:headEnd type="none" w="med" len="med"/>
                      <a:tailEnd type="none" w="med" len="med"/>
                    </a:lnT>
                    <a:lnB w="12700" cap="flat" cmpd="sng" algn="ctr">
                      <a:solidFill>
                        <a:srgbClr val="FFFEF8"/>
                      </a:solidFill>
                      <a:prstDash val="solid"/>
                      <a:round/>
                      <a:headEnd type="none" w="med" len="med"/>
                      <a:tailEnd type="none" w="med" len="med"/>
                    </a:lnB>
                    <a:solidFill>
                      <a:srgbClr val="FFFEF8"/>
                    </a:solidFill>
                  </a:tcPr>
                </a:tc>
                <a:tc>
                  <a:txBody>
                    <a:bodyPr/>
                    <a:lstStyle/>
                    <a:p>
                      <a:pPr marL="0" indent="0">
                        <a:buNone/>
                      </a:pPr>
                      <a:r>
                        <a:rPr lang="en-US" sz="1200" dirty="0">
                          <a:solidFill>
                            <a:srgbClr val="2B3237"/>
                          </a:solidFill>
                          <a:latin typeface="IBM Plex Sans" pitchFamily="34" charset="0"/>
                          <a:ea typeface="IBM Plex Sans" pitchFamily="34" charset="-122"/>
                          <a:cs typeface="IBM Plex Sans" pitchFamily="34" charset="-120"/>
                        </a:rPr>
                        <a:t>Schema and quality checks run before dashboard publication.</a:t>
                      </a:r>
                      <a:endParaRPr lang="en-US" sz="1200" dirty="0">
                        <a:latin typeface="IBM Plex Sans" charset="0"/>
                        <a:ea typeface="IBM Plex Sans" charset="0"/>
                        <a:cs typeface="IBM Plex Sans" charset="0"/>
                      </a:endParaRPr>
                    </a:p>
                  </a:txBody>
                  <a:tcPr marL="114300" marR="114300" marT="60960" marB="60960" anchor="ctr">
                    <a:lnL w="12700" cap="flat" cmpd="sng" algn="ctr">
                      <a:solidFill>
                        <a:srgbClr val="FFFEF8"/>
                      </a:solidFill>
                      <a:prstDash val="solid"/>
                      <a:round/>
                      <a:headEnd type="none" w="med" len="med"/>
                      <a:tailEnd type="none" w="med" len="med"/>
                    </a:lnL>
                    <a:lnR w="12700" cap="flat" cmpd="sng" algn="ctr">
                      <a:solidFill>
                        <a:srgbClr val="FFFEF8"/>
                      </a:solidFill>
                      <a:prstDash val="solid"/>
                      <a:round/>
                      <a:headEnd type="none" w="med" len="med"/>
                      <a:tailEnd type="none" w="med" len="med"/>
                    </a:lnR>
                    <a:lnT w="12700" cap="flat" cmpd="sng" algn="ctr">
                      <a:solidFill>
                        <a:srgbClr val="C9D0D3"/>
                      </a:solidFill>
                      <a:prstDash val="solid"/>
                      <a:round/>
                      <a:headEnd type="none" w="med" len="med"/>
                      <a:tailEnd type="none" w="med" len="med"/>
                    </a:lnT>
                    <a:lnB w="12700" cap="flat" cmpd="sng" algn="ctr">
                      <a:solidFill>
                        <a:srgbClr val="FFFEF8"/>
                      </a:solidFill>
                      <a:prstDash val="solid"/>
                      <a:round/>
                      <a:headEnd type="none" w="med" len="med"/>
                      <a:tailEnd type="none" w="med" len="med"/>
                    </a:lnB>
                    <a:solidFill>
                      <a:srgbClr val="FFFEF8"/>
                    </a:solidFill>
                  </a:tcPr>
                </a:tc>
                <a:extLst>
                  <a:ext uri="{0D108BD9-81ED-4DB2-BD59-A6C34878D82A}">
                    <a16:rowId xmlns:a16="http://schemas.microsoft.com/office/drawing/2014/main" val="10004"/>
                  </a:ext>
                </a:extLst>
              </a:tr>
            </a:tbl>
          </a:graphicData>
        </a:graphic>
      </p:graphicFrame>
      <p:sp>
        <p:nvSpPr>
          <p:cNvPr id="6" name="Text 3"/>
          <p:cNvSpPr/>
          <p:nvPr/>
        </p:nvSpPr>
        <p:spPr>
          <a:xfrm>
            <a:off x="736577" y="5746835"/>
            <a:ext cx="6088933" cy="2666488"/>
          </a:xfrm>
          <a:prstGeom prst="rect">
            <a:avLst/>
          </a:prstGeom>
          <a:noFill/>
          <a:ln/>
        </p:spPr>
        <p:txBody>
          <a:bodyPr wrap="square" lIns="0" tIns="0" rIns="0" bIns="0" rtlCol="0" anchor="t">
            <a:normAutofit lnSpcReduction="10000"/>
          </a:bodyPr>
          <a:lstStyle/>
          <a:p>
            <a:pPr marL="243840" indent="-243840" algn="l">
              <a:lnSpc>
                <a:spcPct val="125000"/>
              </a:lnSpc>
              <a:buSzPct val="100000"/>
              <a:buFont typeface="+mj-lt"/>
              <a:buAutoNum type="arabicPeriod"/>
            </a:pPr>
            <a:r>
              <a:rPr lang="en-US" sz="1200" b="1" dirty="0">
                <a:solidFill>
                  <a:srgbClr val="2B3237"/>
                </a:solidFill>
                <a:latin typeface="IBM Plex Sans Bold" pitchFamily="34" charset="0"/>
                <a:ea typeface="IBM Plex Sans Bold" pitchFamily="34" charset="-122"/>
                <a:cs typeface="IBM Plex Sans Bold" pitchFamily="34" charset="-120"/>
              </a:rPr>
              <a:t>Now:</a:t>
            </a:r>
            <a:r>
              <a:rPr lang="en-US" sz="1200" dirty="0">
                <a:solidFill>
                  <a:srgbClr val="2B3237"/>
                </a:solidFill>
                <a:latin typeface="IBM Plex Sans" pitchFamily="34" charset="0"/>
                <a:ea typeface="IBM Plex Sans" pitchFamily="34" charset="-122"/>
                <a:cs typeface="IBM Plex Sans" pitchFamily="34" charset="-120"/>
              </a:rPr>
              <a:t> rename the pie subtitle to </a:t>
            </a:r>
            <a:r>
              <a:rPr lang="en-US" sz="1200" b="1" dirty="0">
                <a:solidFill>
                  <a:srgbClr val="2B3237"/>
                </a:solidFill>
                <a:latin typeface="IBM Plex Sans Bold" pitchFamily="34" charset="0"/>
                <a:ea typeface="IBM Plex Sans Bold" pitchFamily="34" charset="-122"/>
                <a:cs typeface="IBM Plex Sans Bold" pitchFamily="34" charset="-120"/>
              </a:rPr>
              <a:t>Top-10 state composition</a:t>
            </a:r>
            <a:r>
              <a:rPr lang="en-US" sz="1200" dirty="0">
                <a:solidFill>
                  <a:srgbClr val="2B3237"/>
                </a:solidFill>
                <a:latin typeface="IBM Plex Sans" pitchFamily="34" charset="0"/>
                <a:ea typeface="IBM Plex Sans" pitchFamily="34" charset="-122"/>
                <a:cs typeface="IBM Plex Sans" pitchFamily="34" charset="-120"/>
              </a:rPr>
              <a:t>; add all-U.S. share beside it; rename the map to </a:t>
            </a:r>
            <a:r>
              <a:rPr lang="en-US" sz="1200" b="1" dirty="0">
                <a:solidFill>
                  <a:srgbClr val="2B3237"/>
                </a:solidFill>
                <a:latin typeface="IBM Plex Sans Bold" pitchFamily="34" charset="0"/>
                <a:ea typeface="IBM Plex Sans Bold" pitchFamily="34" charset="-122"/>
                <a:cs typeface="IBM Plex Sans Bold" pitchFamily="34" charset="-120"/>
              </a:rPr>
              <a:t>County locations</a:t>
            </a:r>
            <a:r>
              <a:rPr lang="en-US" sz="1200" dirty="0">
                <a:solidFill>
                  <a:srgbClr val="2B3237"/>
                </a:solidFill>
                <a:latin typeface="IBM Plex Sans" pitchFamily="34" charset="0"/>
                <a:ea typeface="IBM Plex Sans" pitchFamily="34" charset="-122"/>
                <a:cs typeface="IBM Plex Sans" pitchFamily="34" charset="-120"/>
              </a:rPr>
              <a:t> unless emissions is encoded; add units, year, and denominator to every chart.</a:t>
            </a:r>
            <a:endParaRPr lang="en-US" sz="1200" dirty="0"/>
          </a:p>
          <a:p>
            <a:pPr marL="243840" indent="-243840" algn="l">
              <a:lnSpc>
                <a:spcPct val="125000"/>
              </a:lnSpc>
              <a:buSzPct val="100000"/>
              <a:buFont typeface="+mj-lt"/>
              <a:buAutoNum type="arabicPeriod" startAt="2"/>
            </a:pPr>
            <a:r>
              <a:rPr lang="en-US" sz="1200" b="1" dirty="0">
                <a:solidFill>
                  <a:srgbClr val="2B3237"/>
                </a:solidFill>
                <a:latin typeface="IBM Plex Sans Bold" pitchFamily="34" charset="0"/>
                <a:ea typeface="IBM Plex Sans Bold" pitchFamily="34" charset="-122"/>
                <a:cs typeface="IBM Plex Sans Bold" pitchFamily="34" charset="-120"/>
              </a:rPr>
              <a:t>Next:</a:t>
            </a:r>
            <a:r>
              <a:rPr lang="en-US" sz="1200" dirty="0">
                <a:solidFill>
                  <a:srgbClr val="2B3237"/>
                </a:solidFill>
                <a:latin typeface="IBM Plex Sans" pitchFamily="34" charset="0"/>
                <a:ea typeface="IBM Plex Sans" pitchFamily="34" charset="-122"/>
                <a:cs typeface="IBM Plex Sans" pitchFamily="34" charset="-120"/>
              </a:rPr>
              <a:t> create a typed analytical view with stable county_id, state_abbr, population, ghg_emissions_mtons_co2e, year, source, and quality flags; add uniqueness, non-null, numeric-range, and coordinate-bound checks.</a:t>
            </a:r>
            <a:endParaRPr lang="en-US" sz="1200" dirty="0"/>
          </a:p>
          <a:p>
            <a:pPr marL="243840" indent="-243840" algn="l">
              <a:lnSpc>
                <a:spcPct val="125000"/>
              </a:lnSpc>
              <a:buSzPct val="100000"/>
              <a:buFont typeface="+mj-lt"/>
              <a:buAutoNum type="arabicPeriod" startAt="3"/>
            </a:pPr>
            <a:r>
              <a:rPr lang="en-US" sz="1200" b="1" dirty="0">
                <a:solidFill>
                  <a:srgbClr val="2B3237"/>
                </a:solidFill>
                <a:latin typeface="IBM Plex Sans Bold" pitchFamily="34" charset="0"/>
                <a:ea typeface="IBM Plex Sans Bold" pitchFamily="34" charset="-122"/>
                <a:cs typeface="IBM Plex Sans Bold" pitchFamily="34" charset="-120"/>
              </a:rPr>
              <a:t>Then:</a:t>
            </a:r>
            <a:r>
              <a:rPr lang="en-US" sz="1200" dirty="0">
                <a:solidFill>
                  <a:srgbClr val="2B3237"/>
                </a:solidFill>
                <a:latin typeface="IBM Plex Sans" pitchFamily="34" charset="0"/>
                <a:ea typeface="IBM Plex Sans" pitchFamily="34" charset="-122"/>
                <a:cs typeface="IBM Plex Sans" pitchFamily="34" charset="-120"/>
              </a:rPr>
              <a:t> rewrite the population view around a validated county grain; show median and percentile bands, a log-scale scatter, a fitted trendline, and a top-outlier table with population thresholds.</a:t>
            </a:r>
            <a:endParaRPr lang="en-US" sz="1200" dirty="0"/>
          </a:p>
          <a:p>
            <a:pPr marL="243840" indent="-243840" algn="l">
              <a:lnSpc>
                <a:spcPct val="125000"/>
              </a:lnSpc>
              <a:buSzPct val="100000"/>
              <a:buFont typeface="+mj-lt"/>
              <a:buAutoNum type="arabicPeriod" startAt="4"/>
            </a:pPr>
            <a:r>
              <a:rPr lang="en-US" sz="1200" b="1" dirty="0">
                <a:solidFill>
                  <a:srgbClr val="2B3237"/>
                </a:solidFill>
                <a:latin typeface="IBM Plex Sans Bold" pitchFamily="34" charset="0"/>
                <a:ea typeface="IBM Plex Sans Bold" pitchFamily="34" charset="-122"/>
                <a:cs typeface="IBM Plex Sans Bold" pitchFamily="34" charset="-120"/>
              </a:rPr>
              <a:t>Finally:</a:t>
            </a:r>
            <a:r>
              <a:rPr lang="en-US" sz="1200" dirty="0">
                <a:solidFill>
                  <a:srgbClr val="2B3237"/>
                </a:solidFill>
                <a:latin typeface="IBM Plex Sans" pitchFamily="34" charset="0"/>
                <a:ea typeface="IBM Plex Sans" pitchFamily="34" charset="-122"/>
                <a:cs typeface="IBM Plex Sans" pitchFamily="34" charset="-120"/>
              </a:rPr>
              <a:t> add a metric dictionary and a small QA panel reporting row count, latest year, missingness, duplicate keys, total emissions, and top-10 share on every refresh.</a:t>
            </a:r>
            <a:endParaRPr lang="en-US" sz="1200" dirty="0"/>
          </a:p>
        </p:txBody>
      </p:sp>
      <p:sp>
        <p:nvSpPr>
          <p:cNvPr id="7" name="Text 4"/>
          <p:cNvSpPr/>
          <p:nvPr/>
        </p:nvSpPr>
        <p:spPr>
          <a:xfrm>
            <a:off x="736577" y="8591113"/>
            <a:ext cx="6088933" cy="685684"/>
          </a:xfrm>
          <a:prstGeom prst="rect">
            <a:avLst/>
          </a:prstGeom>
          <a:noFill/>
          <a:ln/>
        </p:spPr>
        <p:txBody>
          <a:bodyPr wrap="square" lIns="0" tIns="0" rIns="0" bIns="0" rtlCol="0" anchor="t">
            <a:normAutofit/>
          </a:bodyPr>
          <a:lstStyle/>
          <a:p>
            <a:pPr marL="0" indent="0" algn="l">
              <a:lnSpc>
                <a:spcPct val="125000"/>
              </a:lnSpc>
              <a:buNone/>
            </a:pPr>
            <a:r>
              <a:rPr lang="en-US" sz="1200" b="1" dirty="0">
                <a:solidFill>
                  <a:srgbClr val="2B3237"/>
                </a:solidFill>
                <a:latin typeface="IBM Plex Sans Bold" pitchFamily="34" charset="0"/>
                <a:ea typeface="IBM Plex Sans Bold" pitchFamily="34" charset="-122"/>
                <a:cs typeface="IBM Plex Sans Bold" pitchFamily="34" charset="-120"/>
              </a:rPr>
              <a:t>Decision gate:</a:t>
            </a:r>
            <a:r>
              <a:rPr lang="en-US" sz="1200" dirty="0">
                <a:solidFill>
                  <a:srgbClr val="2B3237"/>
                </a:solidFill>
                <a:latin typeface="IBM Plex Sans" pitchFamily="34" charset="0"/>
                <a:ea typeface="IBM Plex Sans" pitchFamily="34" charset="-122"/>
                <a:cs typeface="IBM Plex Sans" pitchFamily="34" charset="-120"/>
              </a:rPr>
              <a:t> treat the current dashboard as exploratory. Promote it to operational or executive use only after denominator labels, map encoding, time scope, and schema tests are made visible.</a:t>
            </a:r>
            <a:endParaRPr lang="en-US" sz="1200" dirty="0"/>
          </a:p>
        </p:txBody>
      </p:sp>
      <p:sp>
        <p:nvSpPr>
          <p:cNvPr id="8" name="Text 5"/>
          <p:cNvSpPr/>
          <p:nvPr/>
        </p:nvSpPr>
        <p:spPr>
          <a:xfrm>
            <a:off x="3738827" y="10357510"/>
            <a:ext cx="462599" cy="180991"/>
          </a:xfrm>
          <a:prstGeom prst="rect">
            <a:avLst/>
          </a:prstGeom>
          <a:noFill/>
          <a:ln/>
        </p:spPr>
        <p:txBody>
          <a:bodyPr wrap="none" lIns="0" tIns="0" rIns="0" bIns="0" rtlCol="0" anchor="ctr"/>
          <a:lstStyle/>
          <a:p>
            <a:pPr marL="0" indent="0" algn="l">
              <a:lnSpc>
                <a:spcPct val="125000"/>
              </a:lnSpc>
              <a:buNone/>
            </a:pPr>
            <a:r>
              <a:rPr lang="en-US" sz="950" kern="0" spc="95" dirty="0">
                <a:solidFill>
                  <a:srgbClr val="2B3237"/>
                </a:solidFill>
                <a:latin typeface="IBM Plex Sans SemiBold" pitchFamily="34" charset="0"/>
                <a:ea typeface="IBM Plex Sans SemiBold" pitchFamily="34" charset="-122"/>
                <a:cs typeface="IBM Plex Sans SemiBold" pitchFamily="34" charset="-120"/>
              </a:rPr>
              <a:t>8</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1469</Words>
  <Application>Microsoft Macintosh PowerPoint</Application>
  <PresentationFormat>Custom</PresentationFormat>
  <Paragraphs>159</Paragraphs>
  <Slides>8</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IBM Plex Sans Bold</vt:lpstr>
      <vt:lpstr>IBM Plex Sans Condensed</vt:lpstr>
      <vt:lpstr>IBM Plex Sans Condensed Bold</vt:lpstr>
      <vt:lpstr>Calibri</vt:lpstr>
      <vt:lpstr>IBM Plex Sans</vt:lpstr>
      <vt:lpstr>IBM Plex Sans SemiBold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Microsoft Office User</cp:lastModifiedBy>
  <cp:revision>3</cp:revision>
  <dcterms:created xsi:type="dcterms:W3CDTF">2026-09-19T15:49:17Z</dcterms:created>
  <dcterms:modified xsi:type="dcterms:W3CDTF">2026-09-20T04:59:46Z</dcterms:modified>
</cp:coreProperties>
</file>